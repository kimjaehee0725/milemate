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1516" r:id="rId2"/>
    <p:sldId id="1563" r:id="rId3"/>
    <p:sldId id="1557" r:id="rId4"/>
    <p:sldId id="1564" r:id="rId5"/>
    <p:sldId id="1524" r:id="rId6"/>
    <p:sldId id="1529" r:id="rId7"/>
    <p:sldId id="1539" r:id="rId10"/>
    <p:sldId id="1553" r:id="rId16"/>
    <p:sldId id="1565" r:id="rId25"/>
    <p:sldId id="1568" r:id="rId28"/>
    <p:sldId id="1566" r:id="rId26"/>
    <p:sldId id="1569" r:id="rId29"/>
    <p:sldId id="1570" r:id="rId30"/>
    <p:sldId id="1571" r:id="rId31"/>
    <p:sldId id="1572" r:id="rId32"/>
    <p:sldId id="1573" r:id="rId33"/>
    <p:sldId id="1574" r:id="rId34"/>
    <p:sldId id="1575" r:id="rId35"/>
    <p:sldId id="1537" r:id="rId8"/>
    <p:sldId id="1576" r:id="rId36"/>
    <p:sldId id="1577" r:id="rId37"/>
    <p:sldId id="1578" r:id="rId38"/>
    <p:sldId id="1567" r:id="rId27"/>
    <p:sldId id="1579" r:id="rId39"/>
    <p:sldId id="966" r:id="rId17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6FD9D9C-DF3A-D444-ACE9-77DC384370B8}">
          <p14:sldIdLst>
            <p14:sldId id="1516"/>
            <p14:sldId id="1563"/>
            <p14:sldId id="1557"/>
            <p14:sldId id="1564"/>
            <p14:sldId id="1524"/>
            <p14:sldId id="1529"/>
            <p14:sldId id="1537"/>
            <p14:sldId id="1535"/>
            <p14:sldId id="1539"/>
            <p14:sldId id="1552"/>
            <p14:sldId id="1558"/>
            <p14:sldId id="1559"/>
            <p14:sldId id="1561"/>
            <p14:sldId id="1562"/>
            <p14:sldId id="1553"/>
            <p14:sldId id="9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12" userDrawn="1">
          <p15:clr>
            <a:srgbClr val="A4A3A4"/>
          </p15:clr>
        </p15:guide>
        <p15:guide id="4" pos="5745" userDrawn="1">
          <p15:clr>
            <a:srgbClr val="A4A3A4"/>
          </p15:clr>
        </p15:guide>
        <p15:guide id="5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F5C3CE"/>
    <a:srgbClr val="FFE799"/>
    <a:srgbClr val="C00000"/>
    <a:srgbClr val="E9F2E1"/>
    <a:srgbClr val="006EA8"/>
    <a:srgbClr val="FFFFFF"/>
    <a:srgbClr val="DAE3F3"/>
    <a:srgbClr val="6E83B7"/>
    <a:srgbClr val="E7E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3"/>
    <p:restoredTop sz="90043" autoAdjust="0"/>
  </p:normalViewPr>
  <p:slideViewPr>
    <p:cSldViewPr snapToGrid="0" snapToObjects="1">
      <p:cViewPr varScale="1">
        <p:scale>
          <a:sx n="142" d="100"/>
          <a:sy n="142" d="100"/>
        </p:scale>
        <p:origin x="1448" y="176"/>
      </p:cViewPr>
      <p:guideLst>
        <p:guide orient="horz" pos="2364"/>
        <p:guide pos="3840"/>
        <p:guide pos="1912"/>
        <p:guide pos="5745"/>
        <p:guide orient="horz" pos="572"/>
      </p:guideLst>
    </p:cSldViewPr>
  </p:slideViewPr>
  <p:outlineViewPr>
    <p:cViewPr>
      <p:scale>
        <a:sx n="33" d="100"/>
        <a:sy n="33" d="100"/>
      </p:scale>
      <p:origin x="0" y="-23496"/>
    </p:cViewPr>
  </p:outlineViewPr>
  <p:notesTextViewPr>
    <p:cViewPr>
      <p:scale>
        <a:sx n="80" d="100"/>
        <a:sy n="8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4296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599608F-23B9-F27B-D2D4-10A97E2573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BE7E98-F7E3-2291-21C9-C45182FADF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27139-F38C-F74A-A60C-83C49F3490BB}" type="datetimeFigureOut">
              <a:rPr kumimoji="1" lang="ko-KR" altLang="en-US" smtClean="0"/>
              <a:t>2026. 4. 26.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F60B68-A745-0AA6-17E6-3BB1E42AEA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7ACB0F-89E9-F498-88CA-D30E7FB5D2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F1D516-EA7B-DD4F-B00F-A849D5BBEAE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4333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4/26/26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DADBF-0AE3-4985-811B-3F5C39162608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14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CB47C-853B-2249-B0DF-5085CF81C4CC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19433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CB47C-853B-2249-B0DF-5085CF81C4CC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60040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8" y="146756"/>
            <a:ext cx="11023597" cy="27093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1400" b="1" i="0">
                <a:solidFill>
                  <a:schemeClr val="tx1">
                    <a:lumMod val="85000"/>
                    <a:lumOff val="1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849A9-E9C4-0C4B-BE0F-1BB180F7E824}" type="datetime1">
              <a:rPr kumimoji="1" lang="ko-KR" altLang="en-US" smtClean="0"/>
              <a:t>2026. 4. 26.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B4E39411-1FD9-903C-4AD9-D4DB5489D60A}"/>
              </a:ext>
            </a:extLst>
          </p:cNvPr>
          <p:cNvCxnSpPr>
            <a:cxnSpLocks/>
          </p:cNvCxnSpPr>
          <p:nvPr userDrawn="1"/>
        </p:nvCxnSpPr>
        <p:spPr>
          <a:xfrm>
            <a:off x="184470" y="191911"/>
            <a:ext cx="0" cy="462845"/>
          </a:xfrm>
          <a:prstGeom prst="line">
            <a:avLst/>
          </a:prstGeom>
          <a:ln w="76200">
            <a:solidFill>
              <a:srgbClr val="1739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182484D6-48A4-1613-D52B-55E65D63C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8597" y="434622"/>
            <a:ext cx="11023591" cy="270934"/>
          </a:xfrm>
        </p:spPr>
        <p:txBody>
          <a:bodyPr>
            <a:normAutofit/>
          </a:bodyPr>
          <a:lstStyle>
            <a:lvl1pPr marL="0" indent="0">
              <a:buNone/>
              <a:defRPr kumimoji="1" lang="ko-KR" altLang="en-US" sz="1400" b="1" i="0" kern="1200" dirty="0">
                <a:solidFill>
                  <a:srgbClr val="173967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  <a:cs typeface="+mj-cs"/>
              </a:defRPr>
            </a:lvl1pPr>
          </a:lstStyle>
          <a:p>
            <a:pPr lvl="0"/>
            <a:r>
              <a:rPr kumimoji="1" lang="ko-KR" altLang="en-US" dirty="0"/>
              <a:t>부 제목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6DBA4A9-8343-B918-EE50-EE9CAE9587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8777" y="73425"/>
            <a:ext cx="886880" cy="463986"/>
          </a:xfrm>
          <a:prstGeom prst="rect">
            <a:avLst/>
          </a:prstGeom>
        </p:spPr>
      </p:pic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6E2C2484-D5B1-CC47-0F40-DB77EAFC6DB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28597" y="986487"/>
            <a:ext cx="11734804" cy="542767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buNone/>
              <a:defRPr lang="ko-KR" altLang="en-US" sz="2800" b="1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  <a:cs typeface="+mn-cs"/>
              </a:defRPr>
            </a:lvl1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74C4-6F03-464B-A3B1-A94B1F77FF50}" type="datetime1">
              <a:rPr kumimoji="1" lang="ko-KR" altLang="en-US" smtClean="0"/>
              <a:t>2026. 4. 26.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ECD144-E4C9-9B88-2DF7-D7BE3F9F4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18777" y="73425"/>
            <a:ext cx="886880" cy="46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7F7D1F1-2AAF-F340-92C5-3E634ECCFE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3836" y="0"/>
            <a:ext cx="1398164" cy="731472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2D690A4-52DF-D9D9-2328-3FEE52B52CE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4" t="39157" r="8172" b="38734"/>
          <a:stretch/>
        </p:blipFill>
        <p:spPr bwMode="auto">
          <a:xfrm>
            <a:off x="184151" y="73377"/>
            <a:ext cx="1822088" cy="48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200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82B16-7788-1843-90E7-2657F25C465D}" type="datetime1">
              <a:rPr kumimoji="1" lang="ko-KR" altLang="en-US" smtClean="0"/>
              <a:t>2026. 4. 26.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72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tif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93892" y="2386480"/>
            <a:ext cx="5432513" cy="1491367"/>
          </a:xfrm>
          <a:prstGeom prst="rect">
            <a:avLst/>
          </a:prstGeom>
          <a:noFill/>
        </p:spPr>
        <p:txBody>
          <a:bodyPr wrap="none" lIns="99187" tIns="49592" rIns="99187" bIns="49592" rtlCol="0" anchor="b">
            <a:spAutoFit/>
          </a:bodyPr>
          <a:lstStyle/>
          <a:p>
            <a:pPr defTabSz="878985">
              <a:lnSpc>
                <a:spcPct val="150000"/>
              </a:lnSpc>
            </a:pPr>
            <a:r>
              <a:rPr lang="en-US" altLang="ko-KR" sz="4400" b="1" dirty="0" err="1">
                <a:solidFill>
                  <a:prstClr val="black"/>
                </a:solidFill>
                <a:latin typeface="NanumSquareOTF_ac ExtraBold" panose="020B0600000101010101" pitchFamily="34" charset="-127"/>
                <a:ea typeface="NanumSquareOTF_ac ExtraBold" panose="020B0600000101010101" pitchFamily="34" charset="-127"/>
              </a:rPr>
              <a:t>Milemate</a:t>
            </a:r>
            <a:endParaRPr lang="en-US" altLang="ko-KR" sz="4400" b="1" dirty="0">
              <a:solidFill>
                <a:prstClr val="black"/>
              </a:solidFill>
              <a:latin typeface="NanumSquareOTF_ac ExtraBold" panose="020B0600000101010101" pitchFamily="34" charset="-127"/>
              <a:ea typeface="NanumSquareOTF_ac ExtraBold" panose="020B0600000101010101" pitchFamily="34" charset="-127"/>
            </a:endParaRPr>
          </a:p>
          <a:p>
            <a:pPr defTabSz="878985">
              <a:lnSpc>
                <a:spcPct val="150000"/>
              </a:lnSpc>
            </a:pPr>
            <a:r>
              <a:rPr lang="ko-KR" altLang="en-US" b="1" dirty="0">
                <a:solidFill>
                  <a:srgbClr val="163866"/>
                </a:solidFill>
                <a:latin typeface="NanumSquareOTF_ac Bold" panose="020B0600000101010101" pitchFamily="34" charset="-127"/>
                <a:ea typeface="NanumSquareOTF_ac Bold" panose="020B0600000101010101" pitchFamily="34" charset="-127"/>
              </a:rPr>
              <a:t>기획자를 위한 기술 기반 기획서 작성 보조 </a:t>
            </a:r>
            <a:r>
              <a:rPr lang="ko-KR" altLang="en-US" sz="1800" b="1" dirty="0">
                <a:solidFill>
                  <a:srgbClr val="163866"/>
                </a:solidFill>
                <a:latin typeface="NanumSquareOTF_ac Bold" panose="020B0600000101010101" pitchFamily="34" charset="-127"/>
                <a:ea typeface="NanumSquareOTF_ac Bold" panose="020B0600000101010101" pitchFamily="34" charset="-127"/>
              </a:rPr>
              <a:t>에이전트 시스템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E2A38-7EE6-DE2C-6DE2-24D46776FA6C}"/>
              </a:ext>
            </a:extLst>
          </p:cNvPr>
          <p:cNvSpPr txBox="1"/>
          <p:nvPr/>
        </p:nvSpPr>
        <p:spPr>
          <a:xfrm>
            <a:off x="493892" y="5766916"/>
            <a:ext cx="2929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NanumSquare Light" panose="020B0600000101010101" pitchFamily="34" charset="-127"/>
                <a:ea typeface="NanumSquare Light" panose="020B0600000101010101" pitchFamily="34" charset="-127"/>
              </a:rPr>
              <a:t> </a:t>
            </a:r>
            <a:r>
              <a:rPr lang="ko-KR" altLang="en-US" sz="1600" dirty="0">
                <a:solidFill>
                  <a:prstClr val="black">
                    <a:lumMod val="85000"/>
                    <a:lumOff val="15000"/>
                  </a:prstClr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김재희   고재용   김선민   박하연</a:t>
            </a:r>
            <a:endParaRPr lang="en-US" altLang="ko-KR" sz="1600" dirty="0">
              <a:solidFill>
                <a:prstClr val="black">
                  <a:lumMod val="85000"/>
                  <a:lumOff val="15000"/>
                </a:prstClr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endParaRPr kumimoji="1" lang="ko-KR" altLang="en-US" sz="1600" dirty="0">
              <a:latin typeface="NanumSquare Light" panose="020B0600000101010101" pitchFamily="34" charset="-127"/>
              <a:ea typeface="NanumSquare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514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68501F-A167-594C-A3BB-5BA483CA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2</a:t>
            </a:fld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C4D51C-BB9A-CCEE-6984-78C8BEFC2371}"/>
              </a:ext>
            </a:extLst>
          </p:cNvPr>
          <p:cNvSpPr txBox="1"/>
          <p:nvPr/>
        </p:nvSpPr>
        <p:spPr>
          <a:xfrm>
            <a:off x="251285" y="182850"/>
            <a:ext cx="6868289" cy="304216"/>
          </a:xfrm>
          <a:prstGeom prst="rect">
            <a:avLst/>
          </a:prstGeom>
          <a:noFill/>
        </p:spPr>
        <p:txBody>
          <a:bodyPr wrap="square" lIns="87916" tIns="43957" rIns="87916" bIns="43957" rtlCol="0">
            <a:spAutoFit/>
          </a:bodyPr>
          <a:lstStyle/>
          <a:p>
            <a:r>
              <a:rPr lang="en-US" altLang="ko-KR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INDEX</a:t>
            </a:r>
            <a:endParaRPr lang="ko-KR" altLang="en-US" sz="14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DDBF92-5C34-17F6-242D-9FC17E9B1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8777" y="73425"/>
            <a:ext cx="886880" cy="46398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C2F1AEF-0AC8-71B3-B64B-DDC664B3CCD5}"/>
              </a:ext>
            </a:extLst>
          </p:cNvPr>
          <p:cNvSpPr/>
          <p:nvPr/>
        </p:nvSpPr>
        <p:spPr>
          <a:xfrm>
            <a:off x="768512" y="1084756"/>
            <a:ext cx="10228449" cy="4657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altLang="ko-KR" sz="20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PART 1.</a:t>
            </a:r>
            <a:r>
              <a:rPr lang="ko-KR" altLang="en-US" sz="2000" dirty="0"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  </a:t>
            </a:r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ko-KR" altLang="en-US" sz="1600" dirty="0"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문제 정의와 해결 방안</a:t>
            </a:r>
          </a:p>
          <a:p>
            <a:pPr marL="800100" lvl="1" indent="-342900">
              <a:lnSpc>
                <a:spcPct val="15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US" altLang="ko-KR" sz="15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Motivation</a:t>
            </a:r>
          </a:p>
          <a:p>
            <a:pPr marL="800100" lvl="1" indent="-342900">
              <a:lnSpc>
                <a:spcPct val="15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ko-KR" altLang="en-US" sz="15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제안 방법론</a:t>
            </a:r>
            <a:endParaRPr lang="en-US" altLang="ko-KR" sz="15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ko-KR" altLang="en-US" sz="15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에이전트 파이프라인</a:t>
            </a:r>
          </a:p>
          <a:p>
            <a:pPr lvl="1">
              <a:lnSpc>
                <a:spcPct val="150000"/>
              </a:lnSpc>
              <a:spcAft>
                <a:spcPts val="200"/>
              </a:spcAft>
            </a:pPr>
            <a:endParaRPr lang="ko-KR" altLang="en-US" sz="15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altLang="ko-KR" sz="20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PART 2.</a:t>
            </a:r>
            <a:r>
              <a:rPr lang="ko-KR" altLang="en-US" sz="2000" dirty="0"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ko-KR" altLang="en-US" sz="1600" dirty="0">
                <a:solidFill>
                  <a:srgbClr val="8080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실제 활용 예시 — 클린고(CleanGo)</a:t>
            </a:r>
          </a:p>
          <a:p>
            <a:pPr marL="800100" lvl="1" indent="-342900">
              <a:lnSpc>
                <a:spcPct val="15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ko-KR" altLang="en-US" sz="15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CleanGo 시나리오 소개: 라스트 마일 배송 시스템</a:t>
            </a:r>
          </a:p>
          <a:p>
            <a:pPr marL="800100" lvl="1" indent="-342900">
              <a:lnSpc>
                <a:spcPct val="15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ko-KR" altLang="en-US" sz="15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에이전트 단계별 실행 흐름</a:t>
            </a:r>
          </a:p>
          <a:p>
            <a:pPr marL="800100" lvl="1" indent="-342900">
              <a:lnSpc>
                <a:spcPct val="15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ko-KR" altLang="en-US" sz="15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마무리</a:t>
            </a:r>
          </a:p>
        </p:txBody>
      </p:sp>
    </p:spTree>
    <p:extLst>
      <p:ext uri="{BB962C8B-B14F-4D97-AF65-F5344CB8AC3E}">
        <p14:creationId xmlns:p14="http://schemas.microsoft.com/office/powerpoint/2010/main" val="130048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CDCA1-3148-5B80-3379-D772C2090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Bg">
            <a:extLst>
              <a:ext uri="{FF2B5EF4-FFF2-40B4-BE49-F238E27FC236}">
                <a16:creationId xmlns:a16="http://schemas.microsoft.com/office/drawing/2014/main" id="{FD0A5061-40F5-F864-A7AA-F0C4BCF4DE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8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E89F74B-14A0-8DF3-26F2-95202AA1D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B8C5D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D6C2DF-F2D0-5DFF-87F5-96C911B4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7" name="AccentBar">
            <a:extLst>
              <a:ext uri="{FF2B5EF4-FFF2-40B4-BE49-F238E27FC236}">
                <a16:creationId xmlns:a16="http://schemas.microsoft.com/office/drawing/2014/main" id="{7F2789FD-5DA9-0DFC-3195-0CE129FA3083}"/>
              </a:ext>
            </a:extLst>
          </p:cNvPr>
          <p:cNvSpPr/>
          <p:nvPr/>
        </p:nvSpPr>
        <p:spPr>
          <a:xfrm>
            <a:off x="1016000" y="2286000"/>
            <a:ext cx="50800" cy="2286000"/>
          </a:xfrm>
          <a:prstGeom prst="rect">
            <a:avLst/>
          </a:prstGeom>
          <a:solidFill>
            <a:srgbClr val="8FA3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PartLabel">
            <a:extLst>
              <a:ext uri="{FF2B5EF4-FFF2-40B4-BE49-F238E27FC236}">
                <a16:creationId xmlns:a16="http://schemas.microsoft.com/office/drawing/2014/main" id="{4CA25F98-0E2F-F0F5-0904-72398C4D1362}"/>
              </a:ext>
            </a:extLst>
          </p:cNvPr>
          <p:cNvSpPr txBox="1"/>
          <p:nvPr/>
        </p:nvSpPr>
        <p:spPr>
          <a:xfrm>
            <a:off x="1270000" y="2349500"/>
            <a:ext cx="8890000" cy="21544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1400" b="1" spc="400" dirty="0">
                <a:solidFill>
                  <a:srgbClr val="8FA38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PART </a:t>
            </a:r>
            <a:r>
              <a:rPr lang="en-US" altLang="ko-KR" sz="1400" b="1" spc="400" dirty="0">
                <a:solidFill>
                  <a:srgbClr val="8FA38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endParaRPr lang="en-US" sz="1400" b="1" spc="400" dirty="0">
              <a:solidFill>
                <a:srgbClr val="8FA38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BigTitle">
            <a:extLst>
              <a:ext uri="{FF2B5EF4-FFF2-40B4-BE49-F238E27FC236}">
                <a16:creationId xmlns:a16="http://schemas.microsoft.com/office/drawing/2014/main" id="{70368963-7E70-9F30-B8BF-53AF7DED8DC1}"/>
              </a:ext>
            </a:extLst>
          </p:cNvPr>
          <p:cNvSpPr txBox="1"/>
          <p:nvPr/>
        </p:nvSpPr>
        <p:spPr>
          <a:xfrm>
            <a:off x="1270000" y="2857500"/>
            <a:ext cx="10160000" cy="74026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4400" b="1" dirty="0">
                <a:solidFill>
                  <a:srgbClr val="FFFFFF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문제정의와</a:t>
            </a:r>
            <a:r>
              <a:rPr lang="en-US" altLang="ko-KR" sz="4400" b="1" dirty="0">
                <a:solidFill>
                  <a:srgbClr val="FFFFFF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4400" b="1" dirty="0">
                <a:solidFill>
                  <a:srgbClr val="FFFFFF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해결방안</a:t>
            </a:r>
            <a:endParaRPr lang="ko-KR" sz="4400" b="1" dirty="0">
              <a:solidFill>
                <a:srgbClr val="FFFFFF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3EF67D21-5108-EF6C-B0C5-2D6D3C74D844}"/>
              </a:ext>
            </a:extLst>
          </p:cNvPr>
          <p:cNvSpPr txBox="1"/>
          <p:nvPr/>
        </p:nvSpPr>
        <p:spPr>
          <a:xfrm>
            <a:off x="1270000" y="4000500"/>
            <a:ext cx="10160000" cy="31534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600" dirty="0">
                <a:solidFill>
                  <a:srgbClr val="B8C5D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기획자를 위한 기술 기반 기획서 작성 보조 에이전트 시스템 </a:t>
            </a:r>
            <a:r>
              <a:rPr lang="en-US" altLang="ko-KR" sz="1600" dirty="0">
                <a:solidFill>
                  <a:srgbClr val="B8C5D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- Multi-agent</a:t>
            </a:r>
            <a:r>
              <a:rPr lang="ko-KR" altLang="en-US" sz="1600" dirty="0">
                <a:solidFill>
                  <a:srgbClr val="B8C5D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들의 협업</a:t>
            </a:r>
            <a:r>
              <a:rPr lang="en-US" altLang="ko-KR" sz="1600" dirty="0">
                <a:solidFill>
                  <a:srgbClr val="B8C5D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Human-in-the-loop</a:t>
            </a:r>
            <a:endParaRPr lang="ko-KR" sz="1600" dirty="0">
              <a:solidFill>
                <a:srgbClr val="B8C5D6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8ADEA-5652-C155-3979-7FE2D26CD75A}"/>
              </a:ext>
            </a:extLst>
          </p:cNvPr>
          <p:cNvSpPr txBox="1"/>
          <p:nvPr/>
        </p:nvSpPr>
        <p:spPr>
          <a:xfrm>
            <a:off x="2692396" y="4885094"/>
            <a:ext cx="6096000" cy="426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78985">
              <a:lnSpc>
                <a:spcPct val="150000"/>
              </a:lnSpc>
            </a:pPr>
            <a:endParaRPr lang="ko-KR" altLang="en-US" sz="1600" dirty="0">
              <a:solidFill>
                <a:srgbClr val="B8C5D6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746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01. </a:t>
            </a:r>
            <a:r>
              <a:rPr lang="ko-KR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문제 인식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algn="l"/>
            <a:r>
              <a:rPr lang="en-US" altLang="ko-KR" dirty="0">
                <a:solidFill>
                  <a:srgbClr val="163866"/>
                </a:solidFill>
              </a:rPr>
              <a:t>Motivation</a:t>
            </a:r>
            <a:endParaRPr lang="ko-KR" sz="28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74257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기획자의 "</a:t>
            </a:r>
            <a:r>
              <a:rPr lang="ko-KR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무엇을 만들자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"와 개발자의 "</a:t>
            </a:r>
            <a:r>
              <a:rPr lang="ko-KR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만들까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 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간 간극 존재</a:t>
            </a:r>
            <a:endParaRPr lang="en-US" altLang="ko-KR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itchFamily="2" charset="2"/>
              </a:rPr>
              <a:t>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itchFamily="2" charset="2"/>
              </a:rPr>
              <a:t> 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구현 가능한 기술기획서로 번역하는 과정은 대부분의 조직에서 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막대한 자원 소모</a:t>
            </a:r>
            <a:endParaRPr lang="ko-KR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LeftCard">
            <a:extLst>
              <a:ext uri="{FF2B5EF4-FFF2-40B4-BE49-F238E27FC236}">
                <a16:creationId xmlns:a16="http://schemas.microsoft.com/office/drawing/2014/main" id="{2798CA83-3432-A148-9AAF-2E83BB3727AB}"/>
              </a:ext>
            </a:extLst>
          </p:cNvPr>
          <p:cNvSpPr/>
          <p:nvPr/>
        </p:nvSpPr>
        <p:spPr>
          <a:xfrm>
            <a:off x="508000" y="2715768"/>
            <a:ext cx="5334000" cy="2478236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RightCard">
            <a:extLst>
              <a:ext uri="{FF2B5EF4-FFF2-40B4-BE49-F238E27FC236}">
                <a16:creationId xmlns:a16="http://schemas.microsoft.com/office/drawing/2014/main" id="{C63981C0-2142-1940-B51F-462E0817C5EA}"/>
              </a:ext>
            </a:extLst>
          </p:cNvPr>
          <p:cNvSpPr/>
          <p:nvPr/>
        </p:nvSpPr>
        <p:spPr>
          <a:xfrm>
            <a:off x="6350000" y="2715768"/>
            <a:ext cx="5334000" cy="2478236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LeftText">
            <a:extLst>
              <a:ext uri="{FF2B5EF4-FFF2-40B4-BE49-F238E27FC236}">
                <a16:creationId xmlns:a16="http://schemas.microsoft.com/office/drawing/2014/main" id="{E9C86E5A-5E9D-BA4D-931D-BD07B0BDDC92}"/>
              </a:ext>
            </a:extLst>
          </p:cNvPr>
          <p:cNvSpPr txBox="1"/>
          <p:nvPr/>
        </p:nvSpPr>
        <p:spPr>
          <a:xfrm>
            <a:off x="762000" y="2969768"/>
            <a:ext cx="4826000" cy="184794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🧑🏻‍💻 </a:t>
            </a:r>
            <a:r>
              <a:rPr lang="ko-KR" sz="18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기획자 쪽 현실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000" dirty="0">
                <a:solidFill>
                  <a:srgbClr val="8B5A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PLANNER'S REALITY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아이디어는 있지만 기술 제약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지식 </a:t>
            </a:r>
            <a:r>
              <a:rPr lang="ko-KR" altLang="en-US" sz="13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붖ㄱ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관련 판단 어려움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 의도 설명 시 개발 고려 어려움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sz="13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일단 MVP로 해보자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"식 기획이 반복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됨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RightText">
            <a:extLst>
              <a:ext uri="{FF2B5EF4-FFF2-40B4-BE49-F238E27FC236}">
                <a16:creationId xmlns:a16="http://schemas.microsoft.com/office/drawing/2014/main" id="{444288B1-D0A9-614A-A688-F4051284FC2A}"/>
              </a:ext>
            </a:extLst>
          </p:cNvPr>
          <p:cNvSpPr txBox="1"/>
          <p:nvPr/>
        </p:nvSpPr>
        <p:spPr>
          <a:xfrm>
            <a:off x="6604000" y="2969768"/>
            <a:ext cx="4826000" cy="184794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🧑‍💻 </a:t>
            </a:r>
            <a:r>
              <a:rPr lang="ko-KR" sz="18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개발자 쪽 현실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000" dirty="0">
                <a:solidFill>
                  <a:srgbClr val="8B5A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DEVELOPER'S REALITY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실현가능성이 검토되지 않은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요구사항을 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받음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 없이 기능부터 만들기 시작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난항으로 인한 요구 사항 변경 및 작업 폐기 발생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sz="13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왜 필요한지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 맥락이 사라진 스펙을 받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ConclText">
            <a:extLst>
              <a:ext uri="{FF2B5EF4-FFF2-40B4-BE49-F238E27FC236}">
                <a16:creationId xmlns:a16="http://schemas.microsoft.com/office/drawing/2014/main" id="{8CA0790A-5C17-1F46-B8D6-650B5C559325}"/>
              </a:ext>
            </a:extLst>
          </p:cNvPr>
          <p:cNvSpPr txBox="1"/>
          <p:nvPr/>
        </p:nvSpPr>
        <p:spPr>
          <a:xfrm>
            <a:off x="508000" y="5543934"/>
            <a:ext cx="11176000" cy="31534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아이디어를 기술 언어로 구체화하는 과정이 </a:t>
            </a:r>
            <a:r>
              <a:rPr lang="ko-KR" sz="1600" b="1" dirty="0">
                <a:solidFill>
                  <a:srgbClr val="1638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체계 없이 개인 경험에만 의존</a:t>
            </a:r>
            <a:r>
              <a:rPr lang="ko-KR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것이 병목</a:t>
            </a:r>
            <a:r>
              <a:rPr lang="ko-KR" altLang="en-US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지점</a:t>
            </a:r>
            <a:endParaRPr lang="ko-KR" sz="1600" b="1" dirty="0">
              <a:solidFill>
                <a:srgbClr val="2D3338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092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02. M</a:t>
            </a:r>
            <a:r>
              <a:rPr lang="ko-KR" sz="1400" b="1" dirty="0" err="1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ilemate가</a:t>
            </a:r>
            <a:r>
              <a:rPr lang="ko-KR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하는 일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algn="l"/>
            <a:r>
              <a:rPr lang="ko-KR" altLang="en-US" dirty="0">
                <a:solidFill>
                  <a:srgbClr val="163866"/>
                </a:solidFill>
              </a:rPr>
              <a:t>제안 방법론</a:t>
            </a:r>
            <a:endParaRPr lang="ko-KR" sz="28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7590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</a:t>
            </a:r>
            <a:r>
              <a:rPr lang="ko-KR" sz="14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ilemate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기획자의 </a:t>
            </a:r>
            <a:r>
              <a:rPr 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자연어 아이디어</a:t>
            </a: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를, 개발자가 바로 착수할 수 있는 </a:t>
            </a:r>
            <a:r>
              <a:rPr 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기술기획서</a:t>
            </a: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번역하는 기술기획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보조 </a:t>
            </a: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에이전트 시스템</a:t>
            </a:r>
          </a:p>
        </p:txBody>
      </p:sp>
      <p:sp>
        <p:nvSpPr>
          <p:cNvPr id="6" name="Card1">
            <a:extLst>
              <a:ext uri="{FF2B5EF4-FFF2-40B4-BE49-F238E27FC236}">
                <a16:creationId xmlns:a16="http://schemas.microsoft.com/office/drawing/2014/main" id="{A9210F70-959B-EF44-B5D1-639B42C65277}"/>
              </a:ext>
            </a:extLst>
          </p:cNvPr>
          <p:cNvSpPr/>
          <p:nvPr/>
        </p:nvSpPr>
        <p:spPr>
          <a:xfrm>
            <a:off x="508000" y="2286000"/>
            <a:ext cx="3556000" cy="3302000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Card1Text">
            <a:extLst>
              <a:ext uri="{FF2B5EF4-FFF2-40B4-BE49-F238E27FC236}">
                <a16:creationId xmlns:a16="http://schemas.microsoft.com/office/drawing/2014/main" id="{29CABC8C-A32C-1C40-88AC-9085F8D58B7D}"/>
              </a:ext>
            </a:extLst>
          </p:cNvPr>
          <p:cNvSpPr txBox="1"/>
          <p:nvPr/>
        </p:nvSpPr>
        <p:spPr>
          <a:xfrm>
            <a:off x="762000" y="2540000"/>
            <a:ext cx="3048000" cy="131298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8B5A3C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01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ko-KR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구조화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아이디어에 필요한 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의존성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정리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 구현 가능 단위 분리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Card2">
            <a:extLst>
              <a:ext uri="{FF2B5EF4-FFF2-40B4-BE49-F238E27FC236}">
                <a16:creationId xmlns:a16="http://schemas.microsoft.com/office/drawing/2014/main" id="{43FA824B-9486-6949-A392-22C5A0A9B091}"/>
              </a:ext>
            </a:extLst>
          </p:cNvPr>
          <p:cNvSpPr/>
          <p:nvPr/>
        </p:nvSpPr>
        <p:spPr>
          <a:xfrm>
            <a:off x="4318000" y="2286000"/>
            <a:ext cx="3556000" cy="33020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Card2Text">
            <a:extLst>
              <a:ext uri="{FF2B5EF4-FFF2-40B4-BE49-F238E27FC236}">
                <a16:creationId xmlns:a16="http://schemas.microsoft.com/office/drawing/2014/main" id="{96C99CBE-7291-3A4F-9916-1D81421C19CA}"/>
              </a:ext>
            </a:extLst>
          </p:cNvPr>
          <p:cNvSpPr txBox="1"/>
          <p:nvPr/>
        </p:nvSpPr>
        <p:spPr>
          <a:xfrm>
            <a:off x="4572000" y="2540000"/>
            <a:ext cx="3048000" cy="160306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8B5A3C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02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ko-KR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범위</a:t>
            </a:r>
            <a:r>
              <a:rPr lang="en-US" altLang="ko-KR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 </a:t>
            </a:r>
            <a:r>
              <a:rPr lang="ko-KR" altLang="en-US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확정</a:t>
            </a:r>
            <a:endParaRPr lang="ko-KR" sz="17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조직의 자원</a:t>
            </a:r>
            <a:r>
              <a:rPr lang="en-US" alt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기반 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범위 제안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내부 구현 여부 의사결정 가능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Card3">
            <a:extLst>
              <a:ext uri="{FF2B5EF4-FFF2-40B4-BE49-F238E27FC236}">
                <a16:creationId xmlns:a16="http://schemas.microsoft.com/office/drawing/2014/main" id="{1AD87FDC-3E88-CF47-B41B-EE3131B0D4EF}"/>
              </a:ext>
            </a:extLst>
          </p:cNvPr>
          <p:cNvSpPr/>
          <p:nvPr/>
        </p:nvSpPr>
        <p:spPr>
          <a:xfrm>
            <a:off x="8128000" y="2286000"/>
            <a:ext cx="3556000" cy="3302000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Card3Text">
            <a:extLst>
              <a:ext uri="{FF2B5EF4-FFF2-40B4-BE49-F238E27FC236}">
                <a16:creationId xmlns:a16="http://schemas.microsoft.com/office/drawing/2014/main" id="{CF79B2D4-4408-9743-B0F8-7A0077D1E696}"/>
              </a:ext>
            </a:extLst>
          </p:cNvPr>
          <p:cNvSpPr txBox="1"/>
          <p:nvPr/>
        </p:nvSpPr>
        <p:spPr>
          <a:xfrm>
            <a:off x="8382000" y="2540000"/>
            <a:ext cx="3048000" cy="131298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8B5A3C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03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ko-KR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검증</a:t>
            </a:r>
            <a:r>
              <a:rPr lang="ko-KR" altLang="en-US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과 기록</a:t>
            </a:r>
            <a:endParaRPr lang="ko-KR" sz="17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Stage 기반 human-in-the-loop 워크플로우로 모든 의사결정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기록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및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검증</a:t>
            </a:r>
          </a:p>
        </p:txBody>
      </p:sp>
      <p:sp>
        <p:nvSpPr>
          <p:cNvPr id="20" name="ConclText">
            <a:extLst>
              <a:ext uri="{FF2B5EF4-FFF2-40B4-BE49-F238E27FC236}">
                <a16:creationId xmlns:a16="http://schemas.microsoft.com/office/drawing/2014/main" id="{0447C1B4-6FA2-C144-A1B9-6D34C6F98F9B}"/>
              </a:ext>
            </a:extLst>
          </p:cNvPr>
          <p:cNvSpPr txBox="1"/>
          <p:nvPr/>
        </p:nvSpPr>
        <p:spPr>
          <a:xfrm>
            <a:off x="508000" y="5960189"/>
            <a:ext cx="11176000" cy="246221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특정 도메인의 기획자가 사용할 수 있는 서비스</a:t>
            </a:r>
            <a:r>
              <a:rPr lang="en-US" altLang="ko-KR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6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범용적인 방법론을 제안</a:t>
            </a:r>
            <a:endParaRPr lang="ko-KR" sz="16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148" name="Picture 4" descr="마인드맵: 아이디어의 시각화와 확장의 열쇠">
            <a:extLst>
              <a:ext uri="{FF2B5EF4-FFF2-40B4-BE49-F238E27FC236}">
                <a16:creationId xmlns:a16="http://schemas.microsoft.com/office/drawing/2014/main" id="{B1A936B3-2509-A919-5EDE-D7B05B442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936999"/>
            <a:ext cx="2860876" cy="160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83F2C6FE-8421-900A-B352-5D02123CB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606" y="4559509"/>
            <a:ext cx="1087341" cy="651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집중분석] 오픈AI의 API에 대한 완벽 가이드 - 1탄 : 블로그 - by GPTsKOREA 지피티스코리아">
            <a:extLst>
              <a:ext uri="{FF2B5EF4-FFF2-40B4-BE49-F238E27FC236}">
                <a16:creationId xmlns:a16="http://schemas.microsoft.com/office/drawing/2014/main" id="{5FADB4B8-C3B3-AE44-F5FE-5EDB099C9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527559"/>
            <a:ext cx="1333289" cy="67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Human In, On, and Out of the Loop: Designing the Right Role for People in  AI Systems | by Ayo O Agbeja | Medium">
            <a:extLst>
              <a:ext uri="{FF2B5EF4-FFF2-40B4-BE49-F238E27FC236}">
                <a16:creationId xmlns:a16="http://schemas.microsoft.com/office/drawing/2014/main" id="{618EC17C-87FC-FB29-6F07-D3BF2B281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4" r="68166" b="17299"/>
          <a:stretch>
            <a:fillRect/>
          </a:stretch>
        </p:blipFill>
        <p:spPr bwMode="auto">
          <a:xfrm>
            <a:off x="9328426" y="4121362"/>
            <a:ext cx="1159393" cy="119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839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peStep1">
            <a:extLst>
              <a:ext uri="{FF2B5EF4-FFF2-40B4-BE49-F238E27FC236}">
                <a16:creationId xmlns:a16="http://schemas.microsoft.com/office/drawing/2014/main" id="{F1CE86EF-A024-C4E8-F287-EA2E5CE7E35A}"/>
              </a:ext>
            </a:extLst>
          </p:cNvPr>
          <p:cNvSpPr/>
          <p:nvPr/>
        </p:nvSpPr>
        <p:spPr>
          <a:xfrm>
            <a:off x="6267369" y="5846927"/>
            <a:ext cx="4319165" cy="737812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PipeStep1">
            <a:extLst>
              <a:ext uri="{FF2B5EF4-FFF2-40B4-BE49-F238E27FC236}">
                <a16:creationId xmlns:a16="http://schemas.microsoft.com/office/drawing/2014/main" id="{97AFD93F-64B2-1975-A5EB-6C54ED942B8B}"/>
              </a:ext>
            </a:extLst>
          </p:cNvPr>
          <p:cNvSpPr/>
          <p:nvPr/>
        </p:nvSpPr>
        <p:spPr>
          <a:xfrm>
            <a:off x="6267369" y="4708105"/>
            <a:ext cx="4319165" cy="858754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PipeStep1">
            <a:extLst>
              <a:ext uri="{FF2B5EF4-FFF2-40B4-BE49-F238E27FC236}">
                <a16:creationId xmlns:a16="http://schemas.microsoft.com/office/drawing/2014/main" id="{30F0FD79-3770-A0BF-6E46-E1E74BF811C5}"/>
              </a:ext>
            </a:extLst>
          </p:cNvPr>
          <p:cNvSpPr/>
          <p:nvPr/>
        </p:nvSpPr>
        <p:spPr>
          <a:xfrm>
            <a:off x="6267369" y="3907021"/>
            <a:ext cx="4319165" cy="6350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PipeStep1">
            <a:extLst>
              <a:ext uri="{FF2B5EF4-FFF2-40B4-BE49-F238E27FC236}">
                <a16:creationId xmlns:a16="http://schemas.microsoft.com/office/drawing/2014/main" id="{6532AE7C-C789-B01C-E25D-75270DE8D44A}"/>
              </a:ext>
            </a:extLst>
          </p:cNvPr>
          <p:cNvSpPr/>
          <p:nvPr/>
        </p:nvSpPr>
        <p:spPr>
          <a:xfrm>
            <a:off x="6267369" y="3087649"/>
            <a:ext cx="4319165" cy="6350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03. </a:t>
            </a:r>
            <a:r>
              <a:rPr lang="ko-KR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시스템 아키텍처 개요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ko-KR" altLang="en-US" sz="28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에이전트 파이프라인</a:t>
            </a:r>
            <a:endParaRPr lang="ko-KR" sz="28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7590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스택: Microsoft Agent </a:t>
            </a:r>
            <a:r>
              <a:rPr lang="ko-KR" sz="14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Framework</a:t>
            </a: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14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FastAPI</a:t>
            </a: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14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vLLM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Memorization </a:t>
            </a:r>
            <a:endParaRPr 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PipeStep0">
            <a:extLst>
              <a:ext uri="{FF2B5EF4-FFF2-40B4-BE49-F238E27FC236}">
                <a16:creationId xmlns:a16="http://schemas.microsoft.com/office/drawing/2014/main" id="{65C6779E-639B-3949-80C2-8413B4D6B10F}"/>
              </a:ext>
            </a:extLst>
          </p:cNvPr>
          <p:cNvSpPr/>
          <p:nvPr/>
        </p:nvSpPr>
        <p:spPr>
          <a:xfrm>
            <a:off x="1616617" y="2129886"/>
            <a:ext cx="4826000" cy="635000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PipeStep0Text">
            <a:extLst>
              <a:ext uri="{FF2B5EF4-FFF2-40B4-BE49-F238E27FC236}">
                <a16:creationId xmlns:a16="http://schemas.microsoft.com/office/drawing/2014/main" id="{BD8FCE85-2822-AD4D-93B1-943389DAB9E6}"/>
              </a:ext>
            </a:extLst>
          </p:cNvPr>
          <p:cNvSpPr txBox="1"/>
          <p:nvPr/>
        </p:nvSpPr>
        <p:spPr>
          <a:xfrm>
            <a:off x="1819817" y="2256308"/>
            <a:ext cx="4419600" cy="38215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사용자 입력</a:t>
            </a:r>
          </a:p>
          <a:p>
            <a:pPr marL="0" indent="0" algn="ctr">
              <a:buNone/>
            </a:pPr>
            <a:r>
              <a:rPr lang="ko-KR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기획자의 자연어 아이디어</a:t>
            </a:r>
          </a:p>
        </p:txBody>
      </p:sp>
      <p:sp>
        <p:nvSpPr>
          <p:cNvPr id="8" name="PipeArrow0">
            <a:extLst>
              <a:ext uri="{FF2B5EF4-FFF2-40B4-BE49-F238E27FC236}">
                <a16:creationId xmlns:a16="http://schemas.microsoft.com/office/drawing/2014/main" id="{3F2DAAFA-D4E9-DE4E-BB2D-060D356C879F}"/>
              </a:ext>
            </a:extLst>
          </p:cNvPr>
          <p:cNvSpPr/>
          <p:nvPr/>
        </p:nvSpPr>
        <p:spPr>
          <a:xfrm>
            <a:off x="3891466" y="2777586"/>
            <a:ext cx="254000" cy="152400"/>
          </a:xfrm>
          <a:prstGeom prst="downArrow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PipeStep1">
            <a:extLst>
              <a:ext uri="{FF2B5EF4-FFF2-40B4-BE49-F238E27FC236}">
                <a16:creationId xmlns:a16="http://schemas.microsoft.com/office/drawing/2014/main" id="{9E0E7E9E-938B-624C-B1A1-CB4D731AD41A}"/>
              </a:ext>
            </a:extLst>
          </p:cNvPr>
          <p:cNvSpPr/>
          <p:nvPr/>
        </p:nvSpPr>
        <p:spPr>
          <a:xfrm>
            <a:off x="1605466" y="3087649"/>
            <a:ext cx="4826000" cy="635000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PipeStep1Text">
            <a:extLst>
              <a:ext uri="{FF2B5EF4-FFF2-40B4-BE49-F238E27FC236}">
                <a16:creationId xmlns:a16="http://schemas.microsoft.com/office/drawing/2014/main" id="{A3167847-2809-E447-A7E0-9D562C90E982}"/>
              </a:ext>
            </a:extLst>
          </p:cNvPr>
          <p:cNvSpPr txBox="1"/>
          <p:nvPr/>
        </p:nvSpPr>
        <p:spPr>
          <a:xfrm>
            <a:off x="1808666" y="3214071"/>
            <a:ext cx="4419600" cy="38215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alt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문제 정의</a:t>
            </a:r>
            <a:r>
              <a:rPr lang="en-US" altLang="ko-KR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, KPI </a:t>
            </a:r>
            <a:r>
              <a:rPr lang="ko-KR" alt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정렬</a:t>
            </a:r>
            <a:endParaRPr lang="en-US" altLang="ko-KR" sz="14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  <a:p>
            <a:pPr algn="ctr">
              <a:spcAft>
                <a:spcPts val="100"/>
              </a:spcAft>
            </a:pPr>
            <a:r>
              <a:rPr lang="ko-KR" altLang="en-US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구체화된 목표 </a:t>
            </a:r>
            <a:r>
              <a:rPr lang="ko-KR" altLang="ko-KR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 </a:t>
            </a:r>
            <a:r>
              <a:rPr lang="ko-KR" altLang="en-US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후보 및 우선순위 생성</a:t>
            </a:r>
            <a:endParaRPr lang="ko-KR" sz="1000" dirty="0">
              <a:solidFill>
                <a:srgbClr val="6B72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" name="PipeArrow1">
            <a:extLst>
              <a:ext uri="{FF2B5EF4-FFF2-40B4-BE49-F238E27FC236}">
                <a16:creationId xmlns:a16="http://schemas.microsoft.com/office/drawing/2014/main" id="{88D6F866-B103-1740-956D-4B6247BE492A}"/>
              </a:ext>
            </a:extLst>
          </p:cNvPr>
          <p:cNvSpPr/>
          <p:nvPr/>
        </p:nvSpPr>
        <p:spPr>
          <a:xfrm>
            <a:off x="3891466" y="3735349"/>
            <a:ext cx="254000" cy="152400"/>
          </a:xfrm>
          <a:prstGeom prst="downArrow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PipeStep2">
            <a:extLst>
              <a:ext uri="{FF2B5EF4-FFF2-40B4-BE49-F238E27FC236}">
                <a16:creationId xmlns:a16="http://schemas.microsoft.com/office/drawing/2014/main" id="{4CC036B8-36F5-1544-836A-CC9257EE1664}"/>
              </a:ext>
            </a:extLst>
          </p:cNvPr>
          <p:cNvSpPr/>
          <p:nvPr/>
        </p:nvSpPr>
        <p:spPr>
          <a:xfrm>
            <a:off x="1605466" y="3900449"/>
            <a:ext cx="4826000" cy="635000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PipeStep2Text">
            <a:extLst>
              <a:ext uri="{FF2B5EF4-FFF2-40B4-BE49-F238E27FC236}">
                <a16:creationId xmlns:a16="http://schemas.microsoft.com/office/drawing/2014/main" id="{D44CE47E-D531-5E4C-A370-7C26E4BC661C}"/>
              </a:ext>
            </a:extLst>
          </p:cNvPr>
          <p:cNvSpPr txBox="1"/>
          <p:nvPr/>
        </p:nvSpPr>
        <p:spPr>
          <a:xfrm>
            <a:off x="1808666" y="4026871"/>
            <a:ext cx="4419600" cy="38215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alt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서비스 구조 및 </a:t>
            </a:r>
            <a:r>
              <a:rPr lang="en-US" altLang="ko-KR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MVP </a:t>
            </a:r>
            <a:r>
              <a:rPr lang="ko-KR" alt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범위 설정</a:t>
            </a:r>
            <a:endParaRPr lang="en-US" altLang="ko-KR" sz="14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  <a:p>
            <a:pPr algn="ctr">
              <a:spcAft>
                <a:spcPts val="100"/>
              </a:spcAft>
            </a:pPr>
            <a:r>
              <a:rPr lang="en-US" altLang="ko-KR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</a:t>
            </a:r>
            <a:r>
              <a:rPr lang="ko-KR" altLang="en-US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시스템 기능 구조도 </a:t>
            </a:r>
            <a:r>
              <a:rPr lang="ko-KR" altLang="ko-KR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기술 스택 제안서</a:t>
            </a:r>
            <a:endParaRPr lang="ko-KR" sz="1000" dirty="0">
              <a:solidFill>
                <a:srgbClr val="6B72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" name="PipeArrow2">
            <a:extLst>
              <a:ext uri="{FF2B5EF4-FFF2-40B4-BE49-F238E27FC236}">
                <a16:creationId xmlns:a16="http://schemas.microsoft.com/office/drawing/2014/main" id="{83FFD5F6-9065-C14A-A367-5E5E88076009}"/>
              </a:ext>
            </a:extLst>
          </p:cNvPr>
          <p:cNvSpPr/>
          <p:nvPr/>
        </p:nvSpPr>
        <p:spPr>
          <a:xfrm>
            <a:off x="3891466" y="4548149"/>
            <a:ext cx="254000" cy="152400"/>
          </a:xfrm>
          <a:prstGeom prst="downArrow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PipeStep3">
            <a:extLst>
              <a:ext uri="{FF2B5EF4-FFF2-40B4-BE49-F238E27FC236}">
                <a16:creationId xmlns:a16="http://schemas.microsoft.com/office/drawing/2014/main" id="{AF374C1B-7C1C-DB44-9562-163731096DAB}"/>
              </a:ext>
            </a:extLst>
          </p:cNvPr>
          <p:cNvSpPr/>
          <p:nvPr/>
        </p:nvSpPr>
        <p:spPr>
          <a:xfrm>
            <a:off x="1605466" y="4713249"/>
            <a:ext cx="4826000" cy="858754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PipeStep3Text">
            <a:extLst>
              <a:ext uri="{FF2B5EF4-FFF2-40B4-BE49-F238E27FC236}">
                <a16:creationId xmlns:a16="http://schemas.microsoft.com/office/drawing/2014/main" id="{B28D258D-7A48-A14F-A4DD-478B1581BF9E}"/>
              </a:ext>
            </a:extLst>
          </p:cNvPr>
          <p:cNvSpPr txBox="1"/>
          <p:nvPr/>
        </p:nvSpPr>
        <p:spPr>
          <a:xfrm>
            <a:off x="1808666" y="4946404"/>
            <a:ext cx="4419600" cy="38215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marL="0" indent="0" algn="ctr">
              <a:spcAft>
                <a:spcPts val="100"/>
              </a:spcAft>
              <a:buNone/>
            </a:pPr>
            <a:r>
              <a:rPr lang="ko-KR" alt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기술</a:t>
            </a:r>
            <a:r>
              <a:rPr lang="en-US" altLang="ko-KR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/</a:t>
            </a:r>
            <a:r>
              <a:rPr lang="ko-KR" alt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운영</a:t>
            </a:r>
            <a:r>
              <a:rPr lang="en-US" altLang="ko-KR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/</a:t>
            </a:r>
            <a:r>
              <a:rPr lang="ko-KR" alt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규제 검증</a:t>
            </a:r>
            <a:endParaRPr lang="en-US" altLang="ko-KR" sz="14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  <a:p>
            <a:pPr algn="ctr">
              <a:spcAft>
                <a:spcPts val="100"/>
              </a:spcAft>
            </a:pPr>
            <a:r>
              <a:rPr lang="en-US" altLang="ko-KR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 agent</a:t>
            </a:r>
            <a:r>
              <a:rPr lang="ko-KR" altLang="en-US" sz="100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병렬 검증</a:t>
            </a:r>
            <a:endParaRPr lang="ko-KR" sz="1000" dirty="0">
              <a:solidFill>
                <a:srgbClr val="6B728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AgentCluster">
            <a:extLst>
              <a:ext uri="{FF2B5EF4-FFF2-40B4-BE49-F238E27FC236}">
                <a16:creationId xmlns:a16="http://schemas.microsoft.com/office/drawing/2014/main" id="{4F5854A5-DFAD-5045-A26B-4AE4FF72D0CE}"/>
              </a:ext>
            </a:extLst>
          </p:cNvPr>
          <p:cNvSpPr/>
          <p:nvPr/>
        </p:nvSpPr>
        <p:spPr>
          <a:xfrm>
            <a:off x="1427356" y="2995342"/>
            <a:ext cx="9348674" cy="3726133"/>
          </a:xfrm>
          <a:prstGeom prst="roundRect">
            <a:avLst>
              <a:gd name="adj" fmla="val 3000"/>
            </a:avLst>
          </a:prstGeom>
          <a:noFill/>
          <a:ln w="15875" cap="flat" cmpd="sng" algn="ctr">
            <a:solidFill>
              <a:srgbClr val="163866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AgentClusterText">
            <a:extLst>
              <a:ext uri="{FF2B5EF4-FFF2-40B4-BE49-F238E27FC236}">
                <a16:creationId xmlns:a16="http://schemas.microsoft.com/office/drawing/2014/main" id="{3A97F647-A901-FC4A-BF10-BF2CD3F27D9E}"/>
              </a:ext>
            </a:extLst>
          </p:cNvPr>
          <p:cNvSpPr txBox="1"/>
          <p:nvPr/>
        </p:nvSpPr>
        <p:spPr>
          <a:xfrm>
            <a:off x="7969672" y="2218190"/>
            <a:ext cx="3684153" cy="246221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 algn="ctr">
              <a:spcAft>
                <a:spcPts val="800"/>
              </a:spcAft>
              <a:buNone/>
            </a:pPr>
            <a:r>
              <a:rPr lang="ko-KR" sz="16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에이전트 협업 레이어</a:t>
            </a:r>
          </a:p>
        </p:txBody>
      </p:sp>
      <p:sp>
        <p:nvSpPr>
          <p:cNvPr id="26" name="ReportBox">
            <a:extLst>
              <a:ext uri="{FF2B5EF4-FFF2-40B4-BE49-F238E27FC236}">
                <a16:creationId xmlns:a16="http://schemas.microsoft.com/office/drawing/2014/main" id="{0761E354-AFAE-9441-A808-83E44015EA2E}"/>
              </a:ext>
            </a:extLst>
          </p:cNvPr>
          <p:cNvSpPr/>
          <p:nvPr/>
        </p:nvSpPr>
        <p:spPr>
          <a:xfrm>
            <a:off x="1616617" y="5841783"/>
            <a:ext cx="4826000" cy="744123"/>
          </a:xfrm>
          <a:prstGeom prst="roundRect">
            <a:avLst>
              <a:gd name="adj" fmla="val 3000"/>
            </a:avLst>
          </a:prstGeom>
          <a:solidFill>
            <a:srgbClr val="8FA38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ReportText">
            <a:extLst>
              <a:ext uri="{FF2B5EF4-FFF2-40B4-BE49-F238E27FC236}">
                <a16:creationId xmlns:a16="http://schemas.microsoft.com/office/drawing/2014/main" id="{D561DFB5-AA9E-864D-AE57-0029CEB50567}"/>
              </a:ext>
            </a:extLst>
          </p:cNvPr>
          <p:cNvSpPr txBox="1"/>
          <p:nvPr/>
        </p:nvSpPr>
        <p:spPr>
          <a:xfrm>
            <a:off x="1819816" y="5982630"/>
            <a:ext cx="4419601" cy="46679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spc="200" dirty="0">
                <a:solidFill>
                  <a:srgbClr val="F5F0E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FINAL OUTPUT</a:t>
            </a:r>
          </a:p>
          <a:p>
            <a:pPr marL="0" indent="0" algn="ctr">
              <a:buNone/>
            </a:pPr>
            <a:r>
              <a:rPr lang="ko-KR" sz="1500" b="1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Planner Report · Engineer Report · Decision Log</a:t>
            </a:r>
          </a:p>
        </p:txBody>
      </p:sp>
      <p:sp>
        <p:nvSpPr>
          <p:cNvPr id="30" name="ConclText">
            <a:extLst>
              <a:ext uri="{FF2B5EF4-FFF2-40B4-BE49-F238E27FC236}">
                <a16:creationId xmlns:a16="http://schemas.microsoft.com/office/drawing/2014/main" id="{A958427C-02C8-284F-81FE-CCEF65CDB115}"/>
              </a:ext>
            </a:extLst>
          </p:cNvPr>
          <p:cNvSpPr txBox="1"/>
          <p:nvPr/>
        </p:nvSpPr>
        <p:spPr>
          <a:xfrm>
            <a:off x="8630200" y="2532803"/>
            <a:ext cx="4359456" cy="33855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r>
              <a:rPr lang="ko-KR" sz="1100" b="1" i="1" dirty="0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 stage는 사용자 승인 후 진행되며,</a:t>
            </a:r>
            <a:r>
              <a:rPr lang="en-US" altLang="ko-KR" sz="1100" b="1" i="1" dirty="0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</a:p>
          <a:p>
            <a:r>
              <a:rPr lang="ko-KR" sz="1100" b="1" i="1" dirty="0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발견 시 이전 </a:t>
            </a:r>
            <a:r>
              <a:rPr lang="ko-KR" sz="1100" b="1" i="1" dirty="0" err="1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stage로</a:t>
            </a:r>
            <a:r>
              <a:rPr lang="ko-KR" sz="1100" b="1" i="1" dirty="0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sz="1100" b="1" i="1" dirty="0" err="1">
                <a:solidFill>
                  <a:schemeClr val="bg1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rollback</a:t>
            </a:r>
            <a:endParaRPr lang="ko-KR" sz="1100" b="1" i="1" dirty="0">
              <a:solidFill>
                <a:schemeClr val="bg1">
                  <a:lumMod val="50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PipeArrow2">
            <a:extLst>
              <a:ext uri="{FF2B5EF4-FFF2-40B4-BE49-F238E27FC236}">
                <a16:creationId xmlns:a16="http://schemas.microsoft.com/office/drawing/2014/main" id="{74252CBB-9D41-400E-A404-F4DF127604B2}"/>
              </a:ext>
            </a:extLst>
          </p:cNvPr>
          <p:cNvSpPr/>
          <p:nvPr/>
        </p:nvSpPr>
        <p:spPr>
          <a:xfrm>
            <a:off x="3891466" y="5636965"/>
            <a:ext cx="254000" cy="152400"/>
          </a:xfrm>
          <a:prstGeom prst="downArrow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EC280-2E08-59AC-C325-DBBA7C2ABA9B}"/>
              </a:ext>
            </a:extLst>
          </p:cNvPr>
          <p:cNvSpPr txBox="1"/>
          <p:nvPr/>
        </p:nvSpPr>
        <p:spPr>
          <a:xfrm>
            <a:off x="6634666" y="3151050"/>
            <a:ext cx="3798633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200"/>
              </a:spcAft>
              <a:defRPr/>
            </a:pPr>
            <a:r>
              <a:rPr lang="en-US" altLang="ko-KR" sz="1400" b="1" dirty="0">
                <a:solidFill>
                  <a:srgbClr val="8B5A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🧑‍🤝‍🧑  Orchestrator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8B5A3C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Agent  </a:t>
            </a:r>
          </a:p>
          <a:p>
            <a:pPr lvl="0" algn="ctr">
              <a:spcAft>
                <a:spcPts val="200"/>
              </a:spcAft>
              <a:defRPr/>
            </a:pPr>
            <a:r>
              <a:rPr lang="en-US" altLang="ko-KR" sz="1400" b="1" dirty="0">
                <a:solidFill>
                  <a:srgbClr val="8B5A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👩‍💼 Goal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8B5A3C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Aligner Agent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23E35-C7DB-F5C6-3962-AA87E2DD5EEA}"/>
              </a:ext>
            </a:extLst>
          </p:cNvPr>
          <p:cNvSpPr txBox="1"/>
          <p:nvPr/>
        </p:nvSpPr>
        <p:spPr>
          <a:xfrm>
            <a:off x="7373847" y="4022267"/>
            <a:ext cx="2761546" cy="383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200"/>
              </a:spcAft>
              <a:defRPr/>
            </a:pPr>
            <a:r>
              <a:rPr lang="en-US" altLang="ko-KR" sz="1400" b="1" dirty="0">
                <a:solidFill>
                  <a:srgbClr val="8B5A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👨🏻‍💼 Solution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8B5A3C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Architect Agent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81709D-1E03-F285-D487-BB18EB6A638F}"/>
              </a:ext>
            </a:extLst>
          </p:cNvPr>
          <p:cNvSpPr txBox="1"/>
          <p:nvPr/>
        </p:nvSpPr>
        <p:spPr>
          <a:xfrm>
            <a:off x="6342294" y="4767844"/>
            <a:ext cx="4333413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200"/>
              </a:spcAft>
              <a:defRPr/>
            </a:pPr>
            <a:r>
              <a:rPr lang="en-US" altLang="ko-KR" sz="1400" b="1" dirty="0">
                <a:solidFill>
                  <a:srgbClr val="8B5A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💻 Tech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8B5A3C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Verifier Agent </a:t>
            </a:r>
          </a:p>
          <a:p>
            <a:pPr lvl="0" algn="ctr">
              <a:spcAft>
                <a:spcPts val="200"/>
              </a:spcAft>
              <a:defRPr/>
            </a:pPr>
            <a:r>
              <a:rPr lang="en-US" altLang="ko-KR" sz="1400" b="1" dirty="0">
                <a:solidFill>
                  <a:srgbClr val="8B5A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💾 Data Analyst Agent</a:t>
            </a:r>
          </a:p>
          <a:p>
            <a:pPr lvl="0" algn="ctr">
              <a:spcAft>
                <a:spcPts val="200"/>
              </a:spcAft>
              <a:defRPr/>
            </a:pPr>
            <a:r>
              <a:rPr lang="en-US" altLang="ko-KR" sz="1400" b="1" dirty="0">
                <a:solidFill>
                  <a:srgbClr val="8B5A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🚨 Regulatory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8B5A3C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Auditor Agent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E9AE45-E468-9E38-132F-8927D5F1B090}"/>
              </a:ext>
            </a:extLst>
          </p:cNvPr>
          <p:cNvSpPr txBox="1"/>
          <p:nvPr/>
        </p:nvSpPr>
        <p:spPr>
          <a:xfrm>
            <a:off x="6697046" y="5939410"/>
            <a:ext cx="3798633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200"/>
              </a:spcAft>
              <a:defRPr/>
            </a:pPr>
            <a:r>
              <a:rPr lang="en-US" altLang="ko-KR" sz="1400" b="1" dirty="0">
                <a:solidFill>
                  <a:srgbClr val="8B5A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✏️ Spec Writer</a:t>
            </a:r>
          </a:p>
          <a:p>
            <a:pPr lvl="0" algn="ctr">
              <a:spcAft>
                <a:spcPts val="200"/>
              </a:spcAft>
              <a:defRPr/>
            </a:pPr>
            <a:r>
              <a:rPr lang="en-US" altLang="ko-KR" sz="1400" b="1" dirty="0">
                <a:solidFill>
                  <a:srgbClr val="8B5A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🗓️ Decision Logger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8B5A3C"/>
              </a:solidFill>
              <a:effectLst/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12" name="위로 구부러진 화살표[C] 11">
            <a:extLst>
              <a:ext uri="{FF2B5EF4-FFF2-40B4-BE49-F238E27FC236}">
                <a16:creationId xmlns:a16="http://schemas.microsoft.com/office/drawing/2014/main" id="{086A7266-E142-1654-7B62-A1ACEE0FC5A0}"/>
              </a:ext>
            </a:extLst>
          </p:cNvPr>
          <p:cNvSpPr/>
          <p:nvPr/>
        </p:nvSpPr>
        <p:spPr>
          <a:xfrm rot="16200000">
            <a:off x="10370542" y="3569629"/>
            <a:ext cx="1024128" cy="418138"/>
          </a:xfrm>
          <a:prstGeom prst="curvedUpArrow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  <p:sp>
        <p:nvSpPr>
          <p:cNvPr id="13" name="위로 구부러진 화살표[C] 12">
            <a:extLst>
              <a:ext uri="{FF2B5EF4-FFF2-40B4-BE49-F238E27FC236}">
                <a16:creationId xmlns:a16="http://schemas.microsoft.com/office/drawing/2014/main" id="{5E4F55F4-45B7-F380-1FA1-CD381F8BEFA1}"/>
              </a:ext>
            </a:extLst>
          </p:cNvPr>
          <p:cNvSpPr/>
          <p:nvPr/>
        </p:nvSpPr>
        <p:spPr>
          <a:xfrm rot="16200000">
            <a:off x="10358464" y="4549720"/>
            <a:ext cx="1024128" cy="418138"/>
          </a:xfrm>
          <a:prstGeom prst="curvedUpArrow">
            <a:avLst/>
          </a:prstGeom>
          <a:solidFill>
            <a:srgbClr val="9CA3A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6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04. </a:t>
            </a:r>
            <a:r>
              <a:rPr lang="ko-KR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사용자별 효용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algn="l"/>
            <a:r>
              <a:rPr lang="ko-KR" altLang="en-US" dirty="0">
                <a:solidFill>
                  <a:srgbClr val="163866"/>
                </a:solidFill>
              </a:rPr>
              <a:t>프레임워크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기대효과</a:t>
            </a:r>
            <a:endParaRPr lang="ko-KR" sz="28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75909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동일한</a:t>
            </a: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기획을 바탕으로</a:t>
            </a:r>
            <a:r>
              <a:rPr 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세 사용자가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필요성에 따라 업무에 필요한 내용을 중심으로 전달받음</a:t>
            </a:r>
            <a:endParaRPr 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Card1">
            <a:extLst>
              <a:ext uri="{FF2B5EF4-FFF2-40B4-BE49-F238E27FC236}">
                <a16:creationId xmlns:a16="http://schemas.microsoft.com/office/drawing/2014/main" id="{42F0A653-512E-3B43-A792-0324FE8191E9}"/>
              </a:ext>
            </a:extLst>
          </p:cNvPr>
          <p:cNvSpPr/>
          <p:nvPr/>
        </p:nvSpPr>
        <p:spPr>
          <a:xfrm>
            <a:off x="508000" y="2651125"/>
            <a:ext cx="3556000" cy="2670492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Card1Text">
            <a:extLst>
              <a:ext uri="{FF2B5EF4-FFF2-40B4-BE49-F238E27FC236}">
                <a16:creationId xmlns:a16="http://schemas.microsoft.com/office/drawing/2014/main" id="{0A633666-2514-8E48-BD58-81751252CBA3}"/>
              </a:ext>
            </a:extLst>
          </p:cNvPr>
          <p:cNvSpPr txBox="1"/>
          <p:nvPr/>
        </p:nvSpPr>
        <p:spPr>
          <a:xfrm>
            <a:off x="762000" y="3034984"/>
            <a:ext cx="3048000" cy="196861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100"/>
              </a:spcAft>
            </a:pPr>
            <a:r>
              <a:rPr lang="ko-KR" altLang="en-US" sz="16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🧑🏻‍💻 </a:t>
            </a:r>
            <a:r>
              <a:rPr lang="ko-KR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기획자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000" b="1" spc="200" dirty="0">
                <a:solidFill>
                  <a:srgbClr val="1638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PLANNER</a:t>
            </a:r>
          </a:p>
          <a:p>
            <a:pPr marL="0" indent="0" algn="l">
              <a:lnSpc>
                <a:spcPct val="130000"/>
              </a:lnSpc>
              <a:spcAft>
                <a:spcPts val="50"/>
              </a:spcAft>
              <a:buNone/>
            </a:pPr>
            <a:r>
              <a:rPr lang="ko-KR" sz="12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기획서 초안 시간 단축</a:t>
            </a:r>
          </a:p>
          <a:p>
            <a:pPr marL="0" indent="0" algn="l">
              <a:lnSpc>
                <a:spcPct val="130000"/>
              </a:lnSpc>
              <a:spcAft>
                <a:spcPts val="350"/>
              </a:spcAft>
              <a:buNone/>
            </a:pPr>
            <a:r>
              <a:rPr lang="ko-KR" sz="105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자연어 아이디어 → 구조화된 문서</a:t>
            </a:r>
          </a:p>
          <a:p>
            <a:pPr marL="0" indent="0" algn="l">
              <a:lnSpc>
                <a:spcPct val="130000"/>
              </a:lnSpc>
              <a:spcAft>
                <a:spcPts val="50"/>
              </a:spcAft>
              <a:buNone/>
            </a:pPr>
            <a:r>
              <a:rPr lang="ko-KR" sz="12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기술적 결정 근거 확보</a:t>
            </a:r>
          </a:p>
          <a:p>
            <a:pPr marL="0" indent="0" algn="l">
              <a:lnSpc>
                <a:spcPct val="130000"/>
              </a:lnSpc>
              <a:spcAft>
                <a:spcPts val="350"/>
              </a:spcAft>
              <a:buNone/>
            </a:pPr>
            <a:r>
              <a:rPr lang="ko-KR" sz="105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막연한 제안이 아닌 검증된 기술기획서</a:t>
            </a:r>
          </a:p>
          <a:p>
            <a:pPr marL="0" indent="0" algn="l">
              <a:lnSpc>
                <a:spcPct val="130000"/>
              </a:lnSpc>
              <a:spcAft>
                <a:spcPts val="50"/>
              </a:spcAft>
              <a:buNone/>
            </a:pPr>
            <a:r>
              <a:rPr lang="ko-KR" sz="12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엔지니어와 공용 언어 확보</a:t>
            </a:r>
          </a:p>
          <a:p>
            <a:pPr marL="0" indent="0" algn="l">
              <a:lnSpc>
                <a:spcPct val="130000"/>
              </a:lnSpc>
              <a:spcAft>
                <a:spcPts val="350"/>
              </a:spcAft>
              <a:buNone/>
            </a:pPr>
            <a:r>
              <a:rPr lang="ko-KR" sz="105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같은 문서 위에서 논의 가능</a:t>
            </a:r>
          </a:p>
        </p:txBody>
      </p:sp>
      <p:sp>
        <p:nvSpPr>
          <p:cNvPr id="19" name="Card2">
            <a:extLst>
              <a:ext uri="{FF2B5EF4-FFF2-40B4-BE49-F238E27FC236}">
                <a16:creationId xmlns:a16="http://schemas.microsoft.com/office/drawing/2014/main" id="{873ED3CD-C2D6-6C49-8400-E22137116FF9}"/>
              </a:ext>
            </a:extLst>
          </p:cNvPr>
          <p:cNvSpPr/>
          <p:nvPr/>
        </p:nvSpPr>
        <p:spPr>
          <a:xfrm>
            <a:off x="4318000" y="2651125"/>
            <a:ext cx="3556000" cy="2670492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Card2Text">
            <a:extLst>
              <a:ext uri="{FF2B5EF4-FFF2-40B4-BE49-F238E27FC236}">
                <a16:creationId xmlns:a16="http://schemas.microsoft.com/office/drawing/2014/main" id="{3A3249E5-3AB5-1B4A-B3DD-9EC9DB1B7E47}"/>
              </a:ext>
            </a:extLst>
          </p:cNvPr>
          <p:cNvSpPr txBox="1"/>
          <p:nvPr/>
        </p:nvSpPr>
        <p:spPr>
          <a:xfrm>
            <a:off x="4572000" y="3034984"/>
            <a:ext cx="3048000" cy="196861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100"/>
              </a:spcAft>
            </a:pPr>
            <a:r>
              <a:rPr lang="ko-KR" altLang="en-US" sz="16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🧑‍💻 </a:t>
            </a:r>
            <a:r>
              <a:rPr lang="ko-KR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엔지니어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000" b="1" spc="200" dirty="0">
                <a:solidFill>
                  <a:srgbClr val="8B5A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ENGINEER</a:t>
            </a:r>
          </a:p>
          <a:p>
            <a:pPr marL="0" indent="0" algn="l">
              <a:lnSpc>
                <a:spcPct val="130000"/>
              </a:lnSpc>
              <a:spcAft>
                <a:spcPts val="50"/>
              </a:spcAft>
              <a:buNone/>
            </a:pPr>
            <a:r>
              <a:rPr lang="ko-KR" sz="12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즉시 착수 가능한 문서</a:t>
            </a:r>
          </a:p>
          <a:p>
            <a:pPr marL="0" indent="0" algn="l">
              <a:lnSpc>
                <a:spcPct val="130000"/>
              </a:lnSpc>
              <a:spcAft>
                <a:spcPts val="350"/>
              </a:spcAft>
              <a:buNone/>
            </a:pPr>
            <a:r>
              <a:rPr lang="ko-KR" sz="1050" dirty="0" err="1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아키텍처·의존성·API가</a:t>
            </a:r>
            <a:r>
              <a:rPr lang="ko-KR" sz="105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명시된 상태로 전달</a:t>
            </a:r>
          </a:p>
          <a:p>
            <a:pPr marL="0" indent="0" algn="l">
              <a:lnSpc>
                <a:spcPct val="130000"/>
              </a:lnSpc>
              <a:spcAft>
                <a:spcPts val="50"/>
              </a:spcAft>
              <a:buNone/>
            </a:pPr>
            <a:r>
              <a:rPr lang="ko-KR" sz="12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구조화된 요구사항</a:t>
            </a:r>
          </a:p>
          <a:p>
            <a:pPr marL="0" indent="0" algn="l">
              <a:lnSpc>
                <a:spcPct val="130000"/>
              </a:lnSpc>
              <a:spcAft>
                <a:spcPts val="350"/>
              </a:spcAft>
              <a:buNone/>
            </a:pPr>
            <a:r>
              <a:rPr lang="ko-KR" sz="105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모호한 기획이 아닌 범위·제약·대안이 정의됨</a:t>
            </a:r>
          </a:p>
          <a:p>
            <a:pPr marL="0" indent="0" algn="l">
              <a:lnSpc>
                <a:spcPct val="130000"/>
              </a:lnSpc>
              <a:spcAft>
                <a:spcPts val="50"/>
              </a:spcAft>
              <a:buNone/>
            </a:pPr>
            <a:r>
              <a:rPr lang="ko-KR" sz="12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기획 의도 직접 확인</a:t>
            </a:r>
          </a:p>
          <a:p>
            <a:pPr marL="0" indent="0" algn="l">
              <a:lnSpc>
                <a:spcPct val="130000"/>
              </a:lnSpc>
              <a:spcAft>
                <a:spcPts val="350"/>
              </a:spcAft>
              <a:buNone/>
            </a:pPr>
            <a:r>
              <a:rPr lang="ko-KR" sz="105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Decision Log로 왜 이 선택인지 추적 가능</a:t>
            </a:r>
          </a:p>
        </p:txBody>
      </p:sp>
      <p:sp>
        <p:nvSpPr>
          <p:cNvPr id="23" name="Card3">
            <a:extLst>
              <a:ext uri="{FF2B5EF4-FFF2-40B4-BE49-F238E27FC236}">
                <a16:creationId xmlns:a16="http://schemas.microsoft.com/office/drawing/2014/main" id="{8F0EBB19-4261-304A-A1D5-EED512EE01D3}"/>
              </a:ext>
            </a:extLst>
          </p:cNvPr>
          <p:cNvSpPr/>
          <p:nvPr/>
        </p:nvSpPr>
        <p:spPr>
          <a:xfrm>
            <a:off x="8128000" y="2651125"/>
            <a:ext cx="3556000" cy="2670492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Card3Text">
            <a:extLst>
              <a:ext uri="{FF2B5EF4-FFF2-40B4-BE49-F238E27FC236}">
                <a16:creationId xmlns:a16="http://schemas.microsoft.com/office/drawing/2014/main" id="{988C3CB0-A325-2C4F-8060-0CD565746B8C}"/>
              </a:ext>
            </a:extLst>
          </p:cNvPr>
          <p:cNvSpPr txBox="1"/>
          <p:nvPr/>
        </p:nvSpPr>
        <p:spPr>
          <a:xfrm>
            <a:off x="8382000" y="3034984"/>
            <a:ext cx="3048000" cy="196861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100"/>
              </a:spcAft>
            </a:pPr>
            <a:r>
              <a:rPr lang="ko-KR" altLang="en-US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🏢 </a:t>
            </a:r>
            <a:r>
              <a:rPr lang="ko-KR" sz="17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조직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000" b="1" spc="200" dirty="0">
                <a:solidFill>
                  <a:srgbClr val="8FA38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ORGANIZATION</a:t>
            </a:r>
          </a:p>
          <a:p>
            <a:pPr marL="0" indent="0" algn="l">
              <a:lnSpc>
                <a:spcPct val="130000"/>
              </a:lnSpc>
              <a:spcAft>
                <a:spcPts val="50"/>
              </a:spcAft>
              <a:buNone/>
            </a:pPr>
            <a:r>
              <a:rPr lang="ko-KR" sz="12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아이디어 검토 병목 해소</a:t>
            </a:r>
          </a:p>
          <a:p>
            <a:pPr marL="0" indent="0" algn="l">
              <a:lnSpc>
                <a:spcPct val="130000"/>
              </a:lnSpc>
              <a:spcAft>
                <a:spcPts val="350"/>
              </a:spcAft>
              <a:buNone/>
            </a:pPr>
            <a:r>
              <a:rPr lang="ko-KR" sz="105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대량 제안을 빠르게 스크리닝</a:t>
            </a:r>
          </a:p>
          <a:p>
            <a:pPr marL="0" indent="0" algn="l">
              <a:lnSpc>
                <a:spcPct val="130000"/>
              </a:lnSpc>
              <a:spcAft>
                <a:spcPts val="50"/>
              </a:spcAft>
              <a:buNone/>
            </a:pPr>
            <a:r>
              <a:rPr lang="ko-KR" sz="12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의사결정 기록 축적</a:t>
            </a:r>
          </a:p>
          <a:p>
            <a:pPr marL="0" indent="0" algn="l">
              <a:lnSpc>
                <a:spcPct val="130000"/>
              </a:lnSpc>
              <a:spcAft>
                <a:spcPts val="350"/>
              </a:spcAft>
              <a:buNone/>
            </a:pPr>
            <a:r>
              <a:rPr lang="ko-KR" sz="105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판단이 로그로 남아 재사용 가능</a:t>
            </a:r>
          </a:p>
          <a:p>
            <a:pPr marL="0" indent="0" algn="l">
              <a:lnSpc>
                <a:spcPct val="130000"/>
              </a:lnSpc>
              <a:spcAft>
                <a:spcPts val="50"/>
              </a:spcAft>
              <a:buNone/>
            </a:pPr>
            <a:r>
              <a:rPr lang="ko-KR" sz="12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기획·개발 협업 비용 감소</a:t>
            </a:r>
          </a:p>
          <a:p>
            <a:pPr marL="0" indent="0" algn="l">
              <a:lnSpc>
                <a:spcPct val="130000"/>
              </a:lnSpc>
              <a:spcAft>
                <a:spcPts val="350"/>
              </a:spcAft>
              <a:buNone/>
            </a:pPr>
            <a:r>
              <a:rPr lang="ko-KR" sz="1050" dirty="0">
                <a:solidFill>
                  <a:srgbClr val="6B728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문서화된 공용 컨텍스트 확보</a:t>
            </a:r>
          </a:p>
        </p:txBody>
      </p:sp>
    </p:spTree>
    <p:extLst>
      <p:ext uri="{BB962C8B-B14F-4D97-AF65-F5344CB8AC3E}">
        <p14:creationId xmlns:p14="http://schemas.microsoft.com/office/powerpoint/2010/main" val="27350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ctionBg">
            <a:extLst>
              <a:ext uri="{FF2B5EF4-FFF2-40B4-BE49-F238E27FC236}">
                <a16:creationId xmlns:a16="http://schemas.microsoft.com/office/drawing/2014/main" id="{4F85E993-68C7-854B-82D4-E71E55CFF1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86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B8C5D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7" name="AccentBar">
            <a:extLst>
              <a:ext uri="{FF2B5EF4-FFF2-40B4-BE49-F238E27FC236}">
                <a16:creationId xmlns:a16="http://schemas.microsoft.com/office/drawing/2014/main" id="{845A8D7A-4EB8-9F4B-B925-D65780AF7962}"/>
              </a:ext>
            </a:extLst>
          </p:cNvPr>
          <p:cNvSpPr/>
          <p:nvPr/>
        </p:nvSpPr>
        <p:spPr>
          <a:xfrm>
            <a:off x="1016000" y="2286000"/>
            <a:ext cx="50800" cy="2286000"/>
          </a:xfrm>
          <a:prstGeom prst="rect">
            <a:avLst/>
          </a:prstGeom>
          <a:solidFill>
            <a:srgbClr val="8FA3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PartLabel">
            <a:extLst>
              <a:ext uri="{FF2B5EF4-FFF2-40B4-BE49-F238E27FC236}">
                <a16:creationId xmlns:a16="http://schemas.microsoft.com/office/drawing/2014/main" id="{122C4C57-6666-CA4E-979C-B6DDDE0B23F3}"/>
              </a:ext>
            </a:extLst>
          </p:cNvPr>
          <p:cNvSpPr txBox="1"/>
          <p:nvPr/>
        </p:nvSpPr>
        <p:spPr>
          <a:xfrm>
            <a:off x="1270000" y="2349500"/>
            <a:ext cx="8890000" cy="21544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1400" b="1" spc="400" dirty="0">
                <a:solidFill>
                  <a:srgbClr val="8FA38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PART 2</a:t>
            </a:r>
          </a:p>
        </p:txBody>
      </p:sp>
      <p:sp>
        <p:nvSpPr>
          <p:cNvPr id="9" name="BigTitle">
            <a:extLst>
              <a:ext uri="{FF2B5EF4-FFF2-40B4-BE49-F238E27FC236}">
                <a16:creationId xmlns:a16="http://schemas.microsoft.com/office/drawing/2014/main" id="{8E3530BF-C680-0E42-9306-602EA78E8810}"/>
              </a:ext>
            </a:extLst>
          </p:cNvPr>
          <p:cNvSpPr txBox="1"/>
          <p:nvPr/>
        </p:nvSpPr>
        <p:spPr>
          <a:xfrm>
            <a:off x="1270000" y="2857500"/>
            <a:ext cx="10160000" cy="74026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ko-KR" sz="4400" b="1" dirty="0" err="1">
                <a:solidFill>
                  <a:srgbClr val="FFFFFF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CleanGo</a:t>
            </a:r>
            <a:r>
              <a:rPr lang="en-US" altLang="ko-KR" sz="4400" b="1" dirty="0">
                <a:solidFill>
                  <a:srgbClr val="FFFFFF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 </a:t>
            </a:r>
            <a:r>
              <a:rPr lang="ko-KR" altLang="en-US" sz="4000" b="1" dirty="0">
                <a:solidFill>
                  <a:srgbClr val="FFFFFF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라스트 마일 배송 시스템 신규 도입</a:t>
            </a:r>
            <a:endParaRPr lang="ko-KR" sz="4400" b="1" dirty="0">
              <a:solidFill>
                <a:srgbClr val="FFFFFF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476E7C0A-8346-004B-9AD6-732F5784558F}"/>
              </a:ext>
            </a:extLst>
          </p:cNvPr>
          <p:cNvSpPr txBox="1"/>
          <p:nvPr/>
        </p:nvSpPr>
        <p:spPr>
          <a:xfrm>
            <a:off x="1270000" y="4000500"/>
            <a:ext cx="10160000" cy="31534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600" dirty="0">
                <a:solidFill>
                  <a:srgbClr val="B8C5D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기획자를 위한 기술 기반 기획서 작성 보조 에이전트 시스템 </a:t>
            </a:r>
            <a:r>
              <a:rPr lang="en-US" altLang="ko-KR" sz="1600" dirty="0">
                <a:solidFill>
                  <a:srgbClr val="B8C5D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–</a:t>
            </a:r>
            <a:r>
              <a:rPr lang="ko-KR" altLang="en-US" sz="1600" dirty="0">
                <a:solidFill>
                  <a:srgbClr val="B8C5D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적용 시나리오</a:t>
            </a:r>
            <a:endParaRPr lang="ko-KR" sz="1600" dirty="0">
              <a:solidFill>
                <a:srgbClr val="B8C5D6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6634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03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E4483E-3041-79B9-B39C-F03A90047B1E}"/>
              </a:ext>
            </a:extLst>
          </p:cNvPr>
          <p:cNvSpPr txBox="1"/>
          <p:nvPr/>
        </p:nvSpPr>
        <p:spPr>
          <a:xfrm>
            <a:off x="4749317" y="3075058"/>
            <a:ext cx="2693366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kumimoji="1" lang="ko-Kore-KR" altLang="en-US" sz="40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감사합니다</a:t>
            </a:r>
            <a:r>
              <a:rPr kumimoji="1" lang="en-US" altLang="ko-Kore-KR" sz="4000" b="1" dirty="0"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.</a:t>
            </a:r>
            <a:endParaRPr kumimoji="1" lang="ko-Kore-KR" altLang="en-US" sz="4000" b="1" dirty="0"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3526164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01. </a:t>
            </a:r>
            <a:r>
              <a:rPr lang="ko-KR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문제 인식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algn="l"/>
            <a:r>
              <a:rPr lang="en-US" altLang="ko-KR" dirty="0">
                <a:solidFill>
                  <a:srgbClr val="163866"/>
                </a:solidFill>
              </a:rPr>
              <a:t>Motivation</a:t>
            </a:r>
            <a:endParaRPr lang="ko-KR" sz="28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74257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기획자의 "</a:t>
            </a:r>
            <a:r>
              <a:rPr lang="ko-KR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무엇을 만들자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"와 개발자의 "</a:t>
            </a:r>
            <a:r>
              <a:rPr lang="ko-KR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만들까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 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간 간극 존재</a:t>
            </a:r>
            <a:endParaRPr lang="en-US" altLang="ko-KR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itchFamily="2" charset="2"/>
              </a:rPr>
              <a:t>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itchFamily="2" charset="2"/>
              </a:rPr>
              <a:t> 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구현 가능한 기술기획서로 번역하는 과정은 대부분의 조직에서 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막대한 자원 소모</a:t>
            </a:r>
            <a:endParaRPr lang="ko-KR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LeftCard">
            <a:extLst>
              <a:ext uri="{FF2B5EF4-FFF2-40B4-BE49-F238E27FC236}">
                <a16:creationId xmlns:a16="http://schemas.microsoft.com/office/drawing/2014/main" id="{2798CA83-3432-A148-9AAF-2E83BB3727AB}"/>
              </a:ext>
            </a:extLst>
          </p:cNvPr>
          <p:cNvSpPr/>
          <p:nvPr/>
        </p:nvSpPr>
        <p:spPr>
          <a:xfrm>
            <a:off x="508000" y="2715768"/>
            <a:ext cx="5334000" cy="2478236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RightCard">
            <a:extLst>
              <a:ext uri="{FF2B5EF4-FFF2-40B4-BE49-F238E27FC236}">
                <a16:creationId xmlns:a16="http://schemas.microsoft.com/office/drawing/2014/main" id="{C63981C0-2142-1940-B51F-462E0817C5EA}"/>
              </a:ext>
            </a:extLst>
          </p:cNvPr>
          <p:cNvSpPr/>
          <p:nvPr/>
        </p:nvSpPr>
        <p:spPr>
          <a:xfrm>
            <a:off x="6350000" y="2715768"/>
            <a:ext cx="5334000" cy="2478236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LeftText">
            <a:extLst>
              <a:ext uri="{FF2B5EF4-FFF2-40B4-BE49-F238E27FC236}">
                <a16:creationId xmlns:a16="http://schemas.microsoft.com/office/drawing/2014/main" id="{E9C86E5A-5E9D-BA4D-931D-BD07B0BDDC92}"/>
              </a:ext>
            </a:extLst>
          </p:cNvPr>
          <p:cNvSpPr txBox="1"/>
          <p:nvPr/>
        </p:nvSpPr>
        <p:spPr>
          <a:xfrm>
            <a:off x="762000" y="2969768"/>
            <a:ext cx="4826000" cy="184794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🧑🏻‍💻 </a:t>
            </a:r>
            <a:r>
              <a:rPr lang="ko-KR" sz="18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기획자 쪽 현실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000" dirty="0">
                <a:solidFill>
                  <a:srgbClr val="8B5A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PLANNER'S REALITY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아이디어는 있지만 기술 제약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지식 </a:t>
            </a:r>
            <a:r>
              <a:rPr lang="ko-KR" altLang="en-US" sz="13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붖ㄱ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관련 판단 어려움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 의도 설명 시 개발 고려 어려움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sz="13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일단 MVP로 해보자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"식 기획이 반복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됨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RightText">
            <a:extLst>
              <a:ext uri="{FF2B5EF4-FFF2-40B4-BE49-F238E27FC236}">
                <a16:creationId xmlns:a16="http://schemas.microsoft.com/office/drawing/2014/main" id="{444288B1-D0A9-614A-A688-F4051284FC2A}"/>
              </a:ext>
            </a:extLst>
          </p:cNvPr>
          <p:cNvSpPr txBox="1"/>
          <p:nvPr/>
        </p:nvSpPr>
        <p:spPr>
          <a:xfrm>
            <a:off x="6604000" y="2969768"/>
            <a:ext cx="4826000" cy="184794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🧑‍💻 </a:t>
            </a:r>
            <a:r>
              <a:rPr lang="ko-KR" sz="18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개발자 쪽 현실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000" dirty="0">
                <a:solidFill>
                  <a:srgbClr val="8B5A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DEVELOPER'S REALITY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실현가능성이 검토되지 않은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요구사항을 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받음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 없이 기능부터 만들기 시작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난항으로 인한 요구 사항 변경 및 작업 폐기 발생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sz="13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왜 필요한지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 맥락이 사라진 스펙을 받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ConclText">
            <a:extLst>
              <a:ext uri="{FF2B5EF4-FFF2-40B4-BE49-F238E27FC236}">
                <a16:creationId xmlns:a16="http://schemas.microsoft.com/office/drawing/2014/main" id="{8CA0790A-5C17-1F46-B8D6-650B5C559325}"/>
              </a:ext>
            </a:extLst>
          </p:cNvPr>
          <p:cNvSpPr txBox="1"/>
          <p:nvPr/>
        </p:nvSpPr>
        <p:spPr>
          <a:xfrm>
            <a:off x="508000" y="5543934"/>
            <a:ext cx="11176000" cy="31534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아이디어를 기술 언어로 구체화하는 과정이 </a:t>
            </a:r>
            <a:r>
              <a:rPr lang="ko-KR" sz="1600" b="1" dirty="0">
                <a:solidFill>
                  <a:srgbClr val="1638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체계 없이 개인 경험에만 의존</a:t>
            </a:r>
            <a:r>
              <a:rPr lang="ko-KR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것이 병목</a:t>
            </a:r>
            <a:r>
              <a:rPr lang="ko-KR" altLang="en-US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지점</a:t>
            </a:r>
            <a:endParaRPr lang="ko-KR" sz="1600" b="1" dirty="0">
              <a:solidFill>
                <a:srgbClr val="2D3338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01. </a:t>
            </a:r>
            <a:r>
              <a:rPr lang="ko-KR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문제 인식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algn="l"/>
            <a:r>
              <a:rPr lang="en-US" altLang="ko-KR" dirty="0">
                <a:solidFill>
                  <a:srgbClr val="163866"/>
                </a:solidFill>
              </a:rPr>
              <a:t>Motivation</a:t>
            </a:r>
            <a:endParaRPr lang="ko-KR" sz="28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74257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기획자의 "</a:t>
            </a:r>
            <a:r>
              <a:rPr lang="ko-KR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무엇을 만들자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"와 개발자의 "</a:t>
            </a:r>
            <a:r>
              <a:rPr lang="ko-KR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만들까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 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간 간극 존재</a:t>
            </a:r>
            <a:endParaRPr lang="en-US" altLang="ko-KR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itchFamily="2" charset="2"/>
              </a:rPr>
              <a:t>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itchFamily="2" charset="2"/>
              </a:rPr>
              <a:t> 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구현 가능한 기술기획서로 번역하는 과정은 대부분의 조직에서 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막대한 자원 소모</a:t>
            </a:r>
            <a:endParaRPr lang="ko-KR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LeftCard">
            <a:extLst>
              <a:ext uri="{FF2B5EF4-FFF2-40B4-BE49-F238E27FC236}">
                <a16:creationId xmlns:a16="http://schemas.microsoft.com/office/drawing/2014/main" id="{2798CA83-3432-A148-9AAF-2E83BB3727AB}"/>
              </a:ext>
            </a:extLst>
          </p:cNvPr>
          <p:cNvSpPr/>
          <p:nvPr/>
        </p:nvSpPr>
        <p:spPr>
          <a:xfrm>
            <a:off x="508000" y="2715768"/>
            <a:ext cx="5334000" cy="2478236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RightCard">
            <a:extLst>
              <a:ext uri="{FF2B5EF4-FFF2-40B4-BE49-F238E27FC236}">
                <a16:creationId xmlns:a16="http://schemas.microsoft.com/office/drawing/2014/main" id="{C63981C0-2142-1940-B51F-462E0817C5EA}"/>
              </a:ext>
            </a:extLst>
          </p:cNvPr>
          <p:cNvSpPr/>
          <p:nvPr/>
        </p:nvSpPr>
        <p:spPr>
          <a:xfrm>
            <a:off x="6350000" y="2715768"/>
            <a:ext cx="5334000" cy="2478236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LeftText">
            <a:extLst>
              <a:ext uri="{FF2B5EF4-FFF2-40B4-BE49-F238E27FC236}">
                <a16:creationId xmlns:a16="http://schemas.microsoft.com/office/drawing/2014/main" id="{E9C86E5A-5E9D-BA4D-931D-BD07B0BDDC92}"/>
              </a:ext>
            </a:extLst>
          </p:cNvPr>
          <p:cNvSpPr txBox="1"/>
          <p:nvPr/>
        </p:nvSpPr>
        <p:spPr>
          <a:xfrm>
            <a:off x="762000" y="2969768"/>
            <a:ext cx="4826000" cy="184794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🧑🏻‍💻 </a:t>
            </a:r>
            <a:r>
              <a:rPr lang="ko-KR" sz="18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기획자 쪽 현실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000" dirty="0">
                <a:solidFill>
                  <a:srgbClr val="8B5A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PLANNER'S REALITY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아이디어는 있지만 기술 제약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지식 </a:t>
            </a:r>
            <a:r>
              <a:rPr lang="ko-KR" altLang="en-US" sz="13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붖ㄱ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관련 판단 어려움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 의도 설명 시 개발 고려 어려움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sz="13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일단 MVP로 해보자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"식 기획이 반복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됨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RightText">
            <a:extLst>
              <a:ext uri="{FF2B5EF4-FFF2-40B4-BE49-F238E27FC236}">
                <a16:creationId xmlns:a16="http://schemas.microsoft.com/office/drawing/2014/main" id="{444288B1-D0A9-614A-A688-F4051284FC2A}"/>
              </a:ext>
            </a:extLst>
          </p:cNvPr>
          <p:cNvSpPr txBox="1"/>
          <p:nvPr/>
        </p:nvSpPr>
        <p:spPr>
          <a:xfrm>
            <a:off x="6604000" y="2969768"/>
            <a:ext cx="4826000" cy="184794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🧑‍💻 </a:t>
            </a:r>
            <a:r>
              <a:rPr lang="ko-KR" sz="18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개발자 쪽 현실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000" dirty="0">
                <a:solidFill>
                  <a:srgbClr val="8B5A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DEVELOPER'S REALITY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실현가능성이 검토되지 않은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요구사항을 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받음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 없이 기능부터 만들기 시작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난항으로 인한 요구 사항 변경 및 작업 폐기 발생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sz="13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왜 필요한지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 맥락이 사라진 스펙을 받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ConclText">
            <a:extLst>
              <a:ext uri="{FF2B5EF4-FFF2-40B4-BE49-F238E27FC236}">
                <a16:creationId xmlns:a16="http://schemas.microsoft.com/office/drawing/2014/main" id="{8CA0790A-5C17-1F46-B8D6-650B5C559325}"/>
              </a:ext>
            </a:extLst>
          </p:cNvPr>
          <p:cNvSpPr txBox="1"/>
          <p:nvPr/>
        </p:nvSpPr>
        <p:spPr>
          <a:xfrm>
            <a:off x="508000" y="5543934"/>
            <a:ext cx="11176000" cy="31534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아이디어를 기술 언어로 구체화하는 과정이 </a:t>
            </a:r>
            <a:r>
              <a:rPr lang="ko-KR" sz="1600" b="1" dirty="0">
                <a:solidFill>
                  <a:srgbClr val="1638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체계 없이 개인 경험에만 의존</a:t>
            </a:r>
            <a:r>
              <a:rPr lang="ko-KR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것이 병목</a:t>
            </a:r>
            <a:r>
              <a:rPr lang="ko-KR" altLang="en-US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지점</a:t>
            </a:r>
            <a:endParaRPr lang="ko-KR" sz="1600" b="1" dirty="0">
              <a:solidFill>
                <a:srgbClr val="2D3338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01. </a:t>
            </a:r>
            <a:r>
              <a:rPr lang="ko-KR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문제 인식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 algn="l"/>
            <a:r>
              <a:rPr lang="en-US" altLang="ko-KR" dirty="0">
                <a:solidFill>
                  <a:srgbClr val="163866"/>
                </a:solidFill>
              </a:rPr>
              <a:t>Motivation</a:t>
            </a:r>
            <a:endParaRPr lang="ko-KR" sz="2800" b="1" dirty="0">
              <a:solidFill>
                <a:srgbClr val="163866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742576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기획자의 "</a:t>
            </a:r>
            <a:r>
              <a:rPr lang="ko-KR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무엇을 만들자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"와 개발자의 "</a:t>
            </a:r>
            <a:r>
              <a:rPr lang="ko-KR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만들까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 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간 간극 존재</a:t>
            </a:r>
            <a:endParaRPr lang="en-US" altLang="ko-KR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itchFamily="2" charset="2"/>
              </a:rPr>
              <a:t>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Wingdings" pitchFamily="2" charset="2"/>
              </a:rPr>
              <a:t> </a:t>
            </a:r>
            <a:r>
              <a:rPr lang="ko-KR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구현 가능한 기술기획서로 번역하는 과정은 대부분의 조직에서 </a:t>
            </a:r>
            <a:r>
              <a:rPr lang="ko-KR" altLang="en-US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막대한 자원 소모</a:t>
            </a:r>
            <a:endParaRPr lang="ko-KR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LeftCard">
            <a:extLst>
              <a:ext uri="{FF2B5EF4-FFF2-40B4-BE49-F238E27FC236}">
                <a16:creationId xmlns:a16="http://schemas.microsoft.com/office/drawing/2014/main" id="{2798CA83-3432-A148-9AAF-2E83BB3727AB}"/>
              </a:ext>
            </a:extLst>
          </p:cNvPr>
          <p:cNvSpPr/>
          <p:nvPr/>
        </p:nvSpPr>
        <p:spPr>
          <a:xfrm>
            <a:off x="508000" y="2715768"/>
            <a:ext cx="5334000" cy="2478236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RightCard">
            <a:extLst>
              <a:ext uri="{FF2B5EF4-FFF2-40B4-BE49-F238E27FC236}">
                <a16:creationId xmlns:a16="http://schemas.microsoft.com/office/drawing/2014/main" id="{C63981C0-2142-1940-B51F-462E0817C5EA}"/>
              </a:ext>
            </a:extLst>
          </p:cNvPr>
          <p:cNvSpPr/>
          <p:nvPr/>
        </p:nvSpPr>
        <p:spPr>
          <a:xfrm>
            <a:off x="6350000" y="2715768"/>
            <a:ext cx="5334000" cy="2478236"/>
          </a:xfrm>
          <a:prstGeom prst="roundRect">
            <a:avLst>
              <a:gd name="adj" fmla="val 3000"/>
            </a:avLst>
          </a:prstGeom>
          <a:solidFill>
            <a:srgbClr val="F5F3EF"/>
          </a:solidFill>
          <a:ln w="12700" cap="flat" cmpd="sng" algn="ctr">
            <a:solidFill>
              <a:srgbClr val="9CA3AF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LeftText">
            <a:extLst>
              <a:ext uri="{FF2B5EF4-FFF2-40B4-BE49-F238E27FC236}">
                <a16:creationId xmlns:a16="http://schemas.microsoft.com/office/drawing/2014/main" id="{E9C86E5A-5E9D-BA4D-931D-BD07B0BDDC92}"/>
              </a:ext>
            </a:extLst>
          </p:cNvPr>
          <p:cNvSpPr txBox="1"/>
          <p:nvPr/>
        </p:nvSpPr>
        <p:spPr>
          <a:xfrm>
            <a:off x="762000" y="2969768"/>
            <a:ext cx="4826000" cy="184794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🧑🏻‍💻 </a:t>
            </a:r>
            <a:r>
              <a:rPr lang="ko-KR" sz="18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기획자 쪽 현실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000" dirty="0">
                <a:solidFill>
                  <a:srgbClr val="8B5A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PLANNER'S REALITY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아이디어는 있지만 기술 제약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지식 </a:t>
            </a:r>
            <a:r>
              <a:rPr lang="ko-KR" altLang="en-US" sz="13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붖ㄱ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관련 판단 어려움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 의도 설명 시 개발 고려 어려움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sz="13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일단 MVP로 해보자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"식 기획이 반복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됨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4" name="RightText">
            <a:extLst>
              <a:ext uri="{FF2B5EF4-FFF2-40B4-BE49-F238E27FC236}">
                <a16:creationId xmlns:a16="http://schemas.microsoft.com/office/drawing/2014/main" id="{444288B1-D0A9-614A-A688-F4051284FC2A}"/>
              </a:ext>
            </a:extLst>
          </p:cNvPr>
          <p:cNvSpPr txBox="1"/>
          <p:nvPr/>
        </p:nvSpPr>
        <p:spPr>
          <a:xfrm>
            <a:off x="6604000" y="2969768"/>
            <a:ext cx="4826000" cy="184794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ko-KR" altLang="en-US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🧑‍💻 </a:t>
            </a:r>
            <a:r>
              <a:rPr lang="ko-KR" sz="18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개발자 쪽 현실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000" dirty="0">
                <a:solidFill>
                  <a:srgbClr val="8B5A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DEVELOPER'S REALITY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실현가능성이 검토되지 않은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요구사항을 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받음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 없이 기능부터 만들기 시작</a:t>
            </a:r>
          </a:p>
          <a:p>
            <a:pPr marL="171450" indent="-171450" algn="l">
              <a:lnSpc>
                <a:spcPct val="140000"/>
              </a:lnSpc>
              <a:spcAft>
                <a:spcPts val="400"/>
              </a:spcAft>
              <a:buFont typeface="Arial"/>
              <a:buChar char="•"/>
            </a:pP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난항으로 인한 요구 사항 변경 및 작업 폐기 발생</a:t>
            </a:r>
            <a:endParaRPr lang="en-US" alt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171450" indent="-171450" algn="l">
              <a:lnSpc>
                <a:spcPct val="140000"/>
              </a:lnSpc>
              <a:buFont typeface="Arial"/>
              <a:buChar char="•"/>
            </a:pP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sz="13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왜 필요한지</a:t>
            </a:r>
            <a:r>
              <a:rPr lang="ko-KR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 맥락이 사라진 스펙을 받</a:t>
            </a:r>
            <a:r>
              <a:rPr lang="ko-KR" altLang="en-US" sz="13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음</a:t>
            </a:r>
            <a:endParaRPr lang="ko-KR" sz="13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ConclText">
            <a:extLst>
              <a:ext uri="{FF2B5EF4-FFF2-40B4-BE49-F238E27FC236}">
                <a16:creationId xmlns:a16="http://schemas.microsoft.com/office/drawing/2014/main" id="{8CA0790A-5C17-1F46-B8D6-650B5C559325}"/>
              </a:ext>
            </a:extLst>
          </p:cNvPr>
          <p:cNvSpPr txBox="1"/>
          <p:nvPr/>
        </p:nvSpPr>
        <p:spPr>
          <a:xfrm>
            <a:off x="508000" y="5543934"/>
            <a:ext cx="11176000" cy="315343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lang="ko-KR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아이디어를 기술 언어로 구체화하는 과정이 </a:t>
            </a:r>
            <a:r>
              <a:rPr lang="ko-KR" sz="1600" b="1" dirty="0">
                <a:solidFill>
                  <a:srgbClr val="16386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체계 없이 개인 경험에만 의존</a:t>
            </a:r>
            <a:r>
              <a:rPr lang="ko-KR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것이 병목</a:t>
            </a:r>
            <a:r>
              <a:rPr lang="ko-KR" altLang="en-US" sz="1600" b="1" dirty="0">
                <a:solidFill>
                  <a:srgbClr val="2D333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지점</a:t>
            </a:r>
            <a:endParaRPr lang="ko-KR" sz="1600" b="1" dirty="0">
              <a:solidFill>
                <a:srgbClr val="2D3338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 1">
            <a:extLst>
              <a:ext uri="{FF2B5EF4-FFF2-40B4-BE49-F238E27FC236}">
                <a16:creationId xmlns:a16="http://schemas.microsoft.com/office/drawing/2014/main" id="{6544A130-7D42-7441-F3C7-46BFF9F1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solidFill>
                  <a:srgbClr val="163866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Milemate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B4CFB69-C792-AEDC-F0BD-34F1770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10906F-A55E-EF5E-BB23-BA3EC4131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400" b="1" dirty="0">
                <a:solidFill>
                  <a:srgbClr val="2D3338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정리</a:t>
            </a:r>
            <a:endParaRPr lang="ko-KR" sz="1400" b="1" dirty="0">
              <a:solidFill>
                <a:srgbClr val="2D3338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CC4E1-40ED-6B58-E55D-60F757030FA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>
                <a:solidFill>
                  <a:srgbClr val="163866"/>
                </a:solidFill>
              </a:rPr>
              <a:t>Milemate</a:t>
            </a:r>
            <a:r>
              <a:rPr lang="en-US" altLang="ko-KR" dirty="0">
                <a:solidFill>
                  <a:srgbClr val="163866"/>
                </a:solidFill>
              </a:rPr>
              <a:t> </a:t>
            </a:r>
            <a:r>
              <a:rPr lang="ko-KR" altLang="en-US" dirty="0">
                <a:solidFill>
                  <a:srgbClr val="163866"/>
                </a:solidFill>
              </a:rPr>
              <a:t>최종 정리</a:t>
            </a:r>
            <a:endParaRPr lang="ko-KR" altLang="ko-KR" dirty="0">
              <a:solidFill>
                <a:srgbClr val="163866"/>
              </a:solidFill>
            </a:endParaRPr>
          </a:p>
        </p:txBody>
      </p:sp>
      <p:sp>
        <p:nvSpPr>
          <p:cNvPr id="10" name="Desc">
            <a:extLst>
              <a:ext uri="{FF2B5EF4-FFF2-40B4-BE49-F238E27FC236}">
                <a16:creationId xmlns:a16="http://schemas.microsoft.com/office/drawing/2014/main" id="{A8B1437F-72C7-5B45-8D0E-8EAFCAA42C67}"/>
              </a:ext>
            </a:extLst>
          </p:cNvPr>
          <p:cNvSpPr txBox="1"/>
          <p:nvPr/>
        </p:nvSpPr>
        <p:spPr>
          <a:xfrm>
            <a:off x="508000" y="1625600"/>
            <a:ext cx="11176000" cy="2812758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" altLang="ko-KR" sz="1600" dirty="0" err="1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milemate</a:t>
            </a:r>
            <a:r>
              <a:rPr lang="en" altLang="ko-KR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프레임워크는 </a:t>
            </a:r>
            <a:r>
              <a:rPr lang="ko-KR" altLang="en-US" sz="16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 → 기술기획서</a:t>
            </a:r>
            <a:r>
              <a:rPr lang="ko-KR" altLang="en-US" sz="16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갭을 메우는 도구</a:t>
            </a:r>
            <a:endParaRPr lang="en-US" altLang="ko-KR" sz="16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>
              <a:lnSpc>
                <a:spcPct val="140000"/>
              </a:lnSpc>
            </a:pP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예시 시나리오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) </a:t>
            </a:r>
            <a:r>
              <a:rPr lang="ko-KR" altLang="en-US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클린고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         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가 동적 배차 기술을 도입하려 할 때</a:t>
            </a:r>
            <a:r>
              <a:rPr lang="en-US" altLang="ko-KR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 M</a:t>
            </a:r>
            <a:r>
              <a:rPr lang="en" altLang="ko-KR" sz="1400" b="1" dirty="0" err="1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ilemate</a:t>
            </a:r>
            <a:r>
              <a:rPr lang="ko-KR" altLang="en-US" sz="1400" b="1" dirty="0">
                <a:solidFill>
                  <a:srgbClr val="2D3338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는 다음 네 가지를 구조화</a:t>
            </a:r>
            <a:endParaRPr lang="en-US" altLang="ko-KR" sz="1400" b="1" dirty="0">
              <a:solidFill>
                <a:srgbClr val="2D3338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l">
              <a:lnSpc>
                <a:spcPct val="140000"/>
              </a:lnSpc>
            </a:pPr>
            <a:endParaRPr lang="en-US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1]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아이디어를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구체적 문제 정의와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KPI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2]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 구조를 설계하고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현실적 </a:t>
            </a:r>
            <a:r>
              <a:rPr lang="en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MVP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범위를 결정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Build vs Buy 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포함</a:t>
            </a:r>
            <a:r>
              <a:rPr lang="en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3]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규제 현실성을 검증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[Stage 4] 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기획자용</a:t>
            </a:r>
            <a:r>
              <a:rPr lang="en-US" altLang="ko-KR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400" b="1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기술자용 분리 리포트</a:t>
            </a:r>
            <a:r>
              <a:rPr lang="ko-KR" altLang="en-US" sz="1400" dirty="0">
                <a:solidFill>
                  <a:srgbClr val="2D3338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와 의사결정 로그 생성</a:t>
            </a:r>
            <a:endParaRPr lang="en" altLang="ko-KR" sz="1400" dirty="0">
              <a:solidFill>
                <a:srgbClr val="2D3338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A95EFA5-F1A2-FC06-EC43-EA7EAD867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42" y="2425603"/>
            <a:ext cx="606376" cy="606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4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85D0162-2EAB-7445-81D8-C612F82ED2BA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eeb55d12-ca47-41bc-8f88-69591a989ed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117630</TotalTime>
  <Words>1682</Words>
  <Application>Microsoft Macintosh PowerPoint</Application>
  <PresentationFormat>와이드스크린</PresentationFormat>
  <Paragraphs>317</Paragraphs>
  <Slides>16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9" baseType="lpstr">
      <vt:lpstr>나눔스퀘어</vt:lpstr>
      <vt:lpstr>나눔스퀘어 Bold</vt:lpstr>
      <vt:lpstr>맑은 고딕</vt:lpstr>
      <vt:lpstr>NanumSquare</vt:lpstr>
      <vt:lpstr>NanumSquare Bold</vt:lpstr>
      <vt:lpstr>NanumSquare ExtraBold</vt:lpstr>
      <vt:lpstr>NanumSquare Light</vt:lpstr>
      <vt:lpstr>NanumSquareOTF_ac Bold</vt:lpstr>
      <vt:lpstr>NanumSquareOTF_ac ExtraBold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Milemate</vt:lpstr>
      <vt:lpstr>Milemate</vt:lpstr>
      <vt:lpstr>Milemate</vt:lpstr>
      <vt:lpstr>Milemate</vt:lpstr>
      <vt:lpstr>Milemate</vt:lpstr>
      <vt:lpstr>Milemate</vt:lpstr>
      <vt:lpstr>Milemate</vt:lpstr>
      <vt:lpstr>Milemate</vt:lpstr>
      <vt:lpstr>Milemate</vt:lpstr>
      <vt:lpstr>Milemate</vt:lpstr>
      <vt:lpstr>Milemate</vt:lpstr>
      <vt:lpstr>Milemate</vt:lpstr>
      <vt:lpstr>Milemate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형원</dc:creator>
  <cp:lastModifiedBy>jaehee kim</cp:lastModifiedBy>
  <cp:revision>1133</cp:revision>
  <dcterms:created xsi:type="dcterms:W3CDTF">2021-02-06T07:11:19Z</dcterms:created>
  <dcterms:modified xsi:type="dcterms:W3CDTF">2026-04-26T11:54:17Z</dcterms:modified>
</cp:coreProperties>
</file>